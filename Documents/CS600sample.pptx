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14.xml" ContentType="application/vnd.openxmlformats-officedocument.presentationml.notesSlide+xml"/>
  <Override PartName="/ppt/tags/tag19.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6477" autoAdjust="0"/>
  </p:normalViewPr>
  <p:slideViewPr>
    <p:cSldViewPr snapToGrid="0">
      <p:cViewPr varScale="1">
        <p:scale>
          <a:sx n="56" d="100"/>
          <a:sy n="56" d="100"/>
        </p:scale>
        <p:origin x="171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9BB6D-FA98-4D5A-9BEF-C9E730A3F504}" type="datetimeFigureOut">
              <a:rPr lang="en-US" smtClean="0"/>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0ED696-AE9A-45FC-9CBF-A618E79937F6}" type="slidenum">
              <a:rPr lang="en-US" smtClean="0"/>
              <a:t>‹#›</a:t>
            </a:fld>
            <a:endParaRPr lang="en-US"/>
          </a:p>
        </p:txBody>
      </p:sp>
    </p:spTree>
    <p:extLst>
      <p:ext uri="{BB962C8B-B14F-4D97-AF65-F5344CB8AC3E}">
        <p14:creationId xmlns:p14="http://schemas.microsoft.com/office/powerpoint/2010/main" val="33229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a:t>
            </a:r>
            <a:r>
              <a:rPr lang="en-US" sz="1200" dirty="0">
                <a:effectLst/>
                <a:latin typeface="Times New Roman" panose="02020603050405020304" pitchFamily="18" charset="0"/>
                <a:ea typeface="Times New Roman" panose="02020603050405020304" pitchFamily="18" charset="0"/>
              </a:rPr>
              <a:t>CS 600: Artificial Intelligence Foundations. This learning module will focus on an introduction to Artificial Intelligence. </a:t>
            </a:r>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1</a:t>
            </a:fld>
            <a:endParaRPr lang="en-US"/>
          </a:p>
        </p:txBody>
      </p:sp>
    </p:spTree>
    <p:extLst>
      <p:ext uri="{BB962C8B-B14F-4D97-AF65-F5344CB8AC3E}">
        <p14:creationId xmlns:p14="http://schemas.microsoft.com/office/powerpoint/2010/main" val="1354284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Artificial Intelligence, often called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is a branch of computer science focused on creating systems that can perform tasks that normally require human intelligence. These tasks include things like recognizing speech, understanding images, making decisions, and solving problems.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You already interact with AI more often than you might realize. Examples include voice assistants like Siri or Alexa, recommendation systems on Netflix or Amazon, spam filters in your email, and even navigation apps that suggest the fastest route home.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2</a:t>
            </a:fld>
            <a:endParaRPr lang="en-US"/>
          </a:p>
        </p:txBody>
      </p:sp>
    </p:spTree>
    <p:extLst>
      <p:ext uri="{BB962C8B-B14F-4D97-AF65-F5344CB8AC3E}">
        <p14:creationId xmlns:p14="http://schemas.microsoft.com/office/powerpoint/2010/main" val="4249067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AI matters because it allows computers to analyze large amounts of information, automate tasks, and support decision-making in ways that would be difficult or impossible for humans to do alone.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3</a:t>
            </a:fld>
            <a:endParaRPr lang="en-US"/>
          </a:p>
        </p:txBody>
      </p:sp>
    </p:spTree>
    <p:extLst>
      <p:ext uri="{BB962C8B-B14F-4D97-AF65-F5344CB8AC3E}">
        <p14:creationId xmlns:p14="http://schemas.microsoft.com/office/powerpoint/2010/main" val="912672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 understand how AI works, it helps to look at a few key ideas that form the foundation of the field. Concepts such as Intelligent Agents, Data and Knowledge, Learning and Adaptation, and Reasoning and Decision-making. Let’s explore these further.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4</a:t>
            </a:fld>
            <a:endParaRPr lang="en-US"/>
          </a:p>
        </p:txBody>
      </p:sp>
    </p:spTree>
    <p:extLst>
      <p:ext uri="{BB962C8B-B14F-4D97-AF65-F5344CB8AC3E}">
        <p14:creationId xmlns:p14="http://schemas.microsoft.com/office/powerpoint/2010/main" val="1150884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 AI, many systems are described as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intelligent agents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 intelligent agent is something that: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Observes its environment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Makes decisions based on what it observes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Takes actions to achieve a goal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For example, a chess-playing program looks at the board, decides on the best move, and then makes that move. A self-driving car observes the road, traffic, and signs, and then decides how to steer, brake, or accelerate.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5</a:t>
            </a:fld>
            <a:endParaRPr lang="en-US"/>
          </a:p>
        </p:txBody>
      </p:sp>
    </p:spTree>
    <p:extLst>
      <p:ext uri="{BB962C8B-B14F-4D97-AF65-F5344CB8AC3E}">
        <p14:creationId xmlns:p14="http://schemas.microsoft.com/office/powerpoint/2010/main" val="1706590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AI systems depend heavily on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data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knowledge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Data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is information, such as images, text, numbers, or examples of past behavior.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Knowledge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is what the system learns or is told about how things relate to each other.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Some AI systems use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rules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that are written by humans. Others use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machine learning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where the system learns patterns from data instead of being told exactly what to do in every situation.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6</a:t>
            </a:fld>
            <a:endParaRPr lang="en-US"/>
          </a:p>
        </p:txBody>
      </p:sp>
    </p:spTree>
    <p:extLst>
      <p:ext uri="{BB962C8B-B14F-4D97-AF65-F5344CB8AC3E}">
        <p14:creationId xmlns:p14="http://schemas.microsoft.com/office/powerpoint/2010/main" val="3185609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One of the most powerful ideas in AI is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learning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When an AI system learns, it improves its performance over time by studying examples and experiences.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For instance, a movie recommendation system learns what you like by paying attention to what you watch and rate. Over time, its suggestions usually become more accurate because it has learned your preferences.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7</a:t>
            </a:fld>
            <a:endParaRPr lang="en-US"/>
          </a:p>
        </p:txBody>
      </p:sp>
    </p:spTree>
    <p:extLst>
      <p:ext uri="{BB962C8B-B14F-4D97-AF65-F5344CB8AC3E}">
        <p14:creationId xmlns:p14="http://schemas.microsoft.com/office/powerpoint/2010/main" val="2833307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AI systems also need to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reason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make decisions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This can involve: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Following logical rules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Comparing different options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Estimating probabilities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Choosing the best action based on available information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goal is not just to act, but to act in a way that makes sense for the situation and moves the system closer to its goal.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8</a:t>
            </a:fld>
            <a:endParaRPr lang="en-US"/>
          </a:p>
        </p:txBody>
      </p:sp>
    </p:spTree>
    <p:extLst>
      <p:ext uri="{BB962C8B-B14F-4D97-AF65-F5344CB8AC3E}">
        <p14:creationId xmlns:p14="http://schemas.microsoft.com/office/powerpoint/2010/main" val="143400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9</a:t>
            </a:fld>
            <a:endParaRPr lang="en-US"/>
          </a:p>
        </p:txBody>
      </p:sp>
    </p:spTree>
    <p:extLst>
      <p:ext uri="{BB962C8B-B14F-4D97-AF65-F5344CB8AC3E}">
        <p14:creationId xmlns:p14="http://schemas.microsoft.com/office/powerpoint/2010/main" val="1241521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Not all AI is the same. There are two major categories you should know about.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Narrow (Weak) AI</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Narrow AI</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is designed to do </a:t>
            </a: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one specific task</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or a small set of tasks. Examples include: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Voice assistants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Face recognition systems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Spam filters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Recommendation systems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All AI systems in use today fall into this category.</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10</a:t>
            </a:fld>
            <a:endParaRPr lang="en-US"/>
          </a:p>
        </p:txBody>
      </p:sp>
    </p:spTree>
    <p:extLst>
      <p:ext uri="{BB962C8B-B14F-4D97-AF65-F5344CB8AC3E}">
        <p14:creationId xmlns:p14="http://schemas.microsoft.com/office/powerpoint/2010/main" val="3911108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General AI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refers to a system that could perform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any intellectual task</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that a human can do. This type of AI would be able to learn, reason, and solve problems across many different areas, just like a person.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this time,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General AI does not exist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It is a long-term goal of AI research, not something we currently have.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11</a:t>
            </a:fld>
            <a:endParaRPr lang="en-US"/>
          </a:p>
        </p:txBody>
      </p:sp>
    </p:spTree>
    <p:extLst>
      <p:ext uri="{BB962C8B-B14F-4D97-AF65-F5344CB8AC3E}">
        <p14:creationId xmlns:p14="http://schemas.microsoft.com/office/powerpoint/2010/main" val="3602475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Understanding the foundations of AI helps you:</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Better understand how modern technology works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Think critically about what AI can and cannot do</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Recognize the limits and risks of AI systems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Use AI tools more responsibly and effectively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Remember, AI is not magic. It is built by people, trained on data, and guided by rules and algorithms. This means it can be powerful, but it can also make mistakes or reflect the biases in its data.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12</a:t>
            </a:fld>
            <a:endParaRPr lang="en-US"/>
          </a:p>
        </p:txBody>
      </p:sp>
    </p:spTree>
    <p:extLst>
      <p:ext uri="{BB962C8B-B14F-4D97-AF65-F5344CB8AC3E}">
        <p14:creationId xmlns:p14="http://schemas.microsoft.com/office/powerpoint/2010/main" val="4042923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Quick Knowledge Check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13</a:t>
            </a:fld>
            <a:endParaRPr lang="en-US"/>
          </a:p>
        </p:txBody>
      </p:sp>
    </p:spTree>
    <p:extLst>
      <p:ext uri="{BB962C8B-B14F-4D97-AF65-F5344CB8AC3E}">
        <p14:creationId xmlns:p14="http://schemas.microsoft.com/office/powerpoint/2010/main" val="29543517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 this lesson, you learned that Artificial Intelligence is about building systems that can: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Observe the world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Learn from data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Make decisions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Take actions to achieve goals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These foundations will help you better understand more advanced topics later in the course, such as machine learning, neural networks, and ethical issues in AI.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14</a:t>
            </a:fld>
            <a:endParaRPr lang="en-US"/>
          </a:p>
        </p:txBody>
      </p:sp>
    </p:spTree>
    <p:extLst>
      <p:ext uri="{BB962C8B-B14F-4D97-AF65-F5344CB8AC3E}">
        <p14:creationId xmlns:p14="http://schemas.microsoft.com/office/powerpoint/2010/main" val="4011029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Next up:</a:t>
            </a:r>
            <a:b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We’ll build on these foundations by exploring how machines learn and how data drives modern AI systems.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20ED696-AE9A-45FC-9CBF-A618E79937F6}" type="slidenum">
              <a:rPr lang="en-US" smtClean="0"/>
              <a:t>15</a:t>
            </a:fld>
            <a:endParaRPr lang="en-US"/>
          </a:p>
        </p:txBody>
      </p:sp>
    </p:spTree>
    <p:extLst>
      <p:ext uri="{BB962C8B-B14F-4D97-AF65-F5344CB8AC3E}">
        <p14:creationId xmlns:p14="http://schemas.microsoft.com/office/powerpoint/2010/main" val="1029555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A2AEE-A627-4836-B26B-0921B02B44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572D44-975E-4DEF-B365-FB00E0E091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FC79B6-B270-4731-ACBF-BE300770CBF5}"/>
              </a:ext>
            </a:extLst>
          </p:cNvPr>
          <p:cNvSpPr>
            <a:spLocks noGrp="1"/>
          </p:cNvSpPr>
          <p:nvPr>
            <p:ph type="dt" sz="half" idx="10"/>
          </p:nvPr>
        </p:nvSpPr>
        <p:spPr/>
        <p:txBody>
          <a:bodyPr/>
          <a:lstStyle/>
          <a:p>
            <a:fld id="{2EBAECA6-81A5-42A4-8D80-6D5600BCCC6B}" type="datetimeFigureOut">
              <a:rPr lang="en-US" smtClean="0"/>
              <a:t>6/8/2026</a:t>
            </a:fld>
            <a:endParaRPr lang="en-US"/>
          </a:p>
        </p:txBody>
      </p:sp>
      <p:sp>
        <p:nvSpPr>
          <p:cNvPr id="5" name="Footer Placeholder 4">
            <a:extLst>
              <a:ext uri="{FF2B5EF4-FFF2-40B4-BE49-F238E27FC236}">
                <a16:creationId xmlns:a16="http://schemas.microsoft.com/office/drawing/2014/main" id="{AA3403B4-0E56-48FE-B30B-20C5DD61AD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515040-3103-460B-BE58-07DE9A0D0373}"/>
              </a:ext>
            </a:extLst>
          </p:cNvPr>
          <p:cNvSpPr>
            <a:spLocks noGrp="1"/>
          </p:cNvSpPr>
          <p:nvPr>
            <p:ph type="sldNum" sz="quarter" idx="12"/>
          </p:nvPr>
        </p:nvSpPr>
        <p:spPr/>
        <p:txBody>
          <a:bodyPr/>
          <a:lstStyle/>
          <a:p>
            <a:fld id="{A9C53AA7-51C3-4B6D-9202-07BF3002E5A7}" type="slidenum">
              <a:rPr lang="en-US" smtClean="0"/>
              <a:t>‹#›</a:t>
            </a:fld>
            <a:endParaRPr lang="en-US"/>
          </a:p>
        </p:txBody>
      </p:sp>
    </p:spTree>
    <p:extLst>
      <p:ext uri="{BB962C8B-B14F-4D97-AF65-F5344CB8AC3E}">
        <p14:creationId xmlns:p14="http://schemas.microsoft.com/office/powerpoint/2010/main" val="1064840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1C460-9D1B-4720-922F-D42EE1E1F4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8AA908-A957-4E8E-8EB5-B15E8FA57D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4B822F-C745-4B4B-A91F-B44A15572FFA}"/>
              </a:ext>
            </a:extLst>
          </p:cNvPr>
          <p:cNvSpPr>
            <a:spLocks noGrp="1"/>
          </p:cNvSpPr>
          <p:nvPr>
            <p:ph type="dt" sz="half" idx="10"/>
          </p:nvPr>
        </p:nvSpPr>
        <p:spPr/>
        <p:txBody>
          <a:bodyPr/>
          <a:lstStyle/>
          <a:p>
            <a:fld id="{2EBAECA6-81A5-42A4-8D80-6D5600BCCC6B}" type="datetimeFigureOut">
              <a:rPr lang="en-US" smtClean="0"/>
              <a:t>6/8/2026</a:t>
            </a:fld>
            <a:endParaRPr lang="en-US"/>
          </a:p>
        </p:txBody>
      </p:sp>
      <p:sp>
        <p:nvSpPr>
          <p:cNvPr id="5" name="Footer Placeholder 4">
            <a:extLst>
              <a:ext uri="{FF2B5EF4-FFF2-40B4-BE49-F238E27FC236}">
                <a16:creationId xmlns:a16="http://schemas.microsoft.com/office/drawing/2014/main" id="{D03672F3-3F53-4797-A0BE-518FA3839F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50270E-9195-4AE5-9A27-8B6B6BE6B514}"/>
              </a:ext>
            </a:extLst>
          </p:cNvPr>
          <p:cNvSpPr>
            <a:spLocks noGrp="1"/>
          </p:cNvSpPr>
          <p:nvPr>
            <p:ph type="sldNum" sz="quarter" idx="12"/>
          </p:nvPr>
        </p:nvSpPr>
        <p:spPr/>
        <p:txBody>
          <a:bodyPr/>
          <a:lstStyle/>
          <a:p>
            <a:fld id="{A9C53AA7-51C3-4B6D-9202-07BF3002E5A7}" type="slidenum">
              <a:rPr lang="en-US" smtClean="0"/>
              <a:t>‹#›</a:t>
            </a:fld>
            <a:endParaRPr lang="en-US"/>
          </a:p>
        </p:txBody>
      </p:sp>
    </p:spTree>
    <p:extLst>
      <p:ext uri="{BB962C8B-B14F-4D97-AF65-F5344CB8AC3E}">
        <p14:creationId xmlns:p14="http://schemas.microsoft.com/office/powerpoint/2010/main" val="1607100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341C4-92E2-4C23-B066-541560B0F1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24E454B-F7AA-48B7-91DC-E027B05099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9FB5F6-1B25-474F-92C5-F0579E477C79}"/>
              </a:ext>
            </a:extLst>
          </p:cNvPr>
          <p:cNvSpPr>
            <a:spLocks noGrp="1"/>
          </p:cNvSpPr>
          <p:nvPr>
            <p:ph type="dt" sz="half" idx="10"/>
          </p:nvPr>
        </p:nvSpPr>
        <p:spPr/>
        <p:txBody>
          <a:bodyPr/>
          <a:lstStyle/>
          <a:p>
            <a:fld id="{2EBAECA6-81A5-42A4-8D80-6D5600BCCC6B}" type="datetimeFigureOut">
              <a:rPr lang="en-US" smtClean="0"/>
              <a:t>6/8/2026</a:t>
            </a:fld>
            <a:endParaRPr lang="en-US"/>
          </a:p>
        </p:txBody>
      </p:sp>
      <p:sp>
        <p:nvSpPr>
          <p:cNvPr id="5" name="Footer Placeholder 4">
            <a:extLst>
              <a:ext uri="{FF2B5EF4-FFF2-40B4-BE49-F238E27FC236}">
                <a16:creationId xmlns:a16="http://schemas.microsoft.com/office/drawing/2014/main" id="{0E01D8B4-7A8C-440D-A850-11EC4C4F9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605EAB-77EC-4031-8F48-9EE1A7845584}"/>
              </a:ext>
            </a:extLst>
          </p:cNvPr>
          <p:cNvSpPr>
            <a:spLocks noGrp="1"/>
          </p:cNvSpPr>
          <p:nvPr>
            <p:ph type="sldNum" sz="quarter" idx="12"/>
          </p:nvPr>
        </p:nvSpPr>
        <p:spPr/>
        <p:txBody>
          <a:bodyPr/>
          <a:lstStyle/>
          <a:p>
            <a:fld id="{A9C53AA7-51C3-4B6D-9202-07BF3002E5A7}" type="slidenum">
              <a:rPr lang="en-US" smtClean="0"/>
              <a:t>‹#›</a:t>
            </a:fld>
            <a:endParaRPr lang="en-US"/>
          </a:p>
        </p:txBody>
      </p:sp>
    </p:spTree>
    <p:extLst>
      <p:ext uri="{BB962C8B-B14F-4D97-AF65-F5344CB8AC3E}">
        <p14:creationId xmlns:p14="http://schemas.microsoft.com/office/powerpoint/2010/main" val="1859497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EC8A-EA19-44C2-8DAF-C4064D2D46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5E313F-8162-4DB2-8E75-5F88E4A3BC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F50B6F-4153-48BD-9ADC-DAE4366518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BDC53E-6692-47C0-9A42-50DE2657E1EF}"/>
              </a:ext>
            </a:extLst>
          </p:cNvPr>
          <p:cNvSpPr>
            <a:spLocks noGrp="1"/>
          </p:cNvSpPr>
          <p:nvPr>
            <p:ph type="dt" sz="half" idx="10"/>
          </p:nvPr>
        </p:nvSpPr>
        <p:spPr/>
        <p:txBody>
          <a:bodyPr/>
          <a:lstStyle/>
          <a:p>
            <a:fld id="{2EBAECA6-81A5-42A4-8D80-6D5600BCCC6B}" type="datetimeFigureOut">
              <a:rPr lang="en-US" smtClean="0"/>
              <a:t>6/8/2026</a:t>
            </a:fld>
            <a:endParaRPr lang="en-US"/>
          </a:p>
        </p:txBody>
      </p:sp>
      <p:sp>
        <p:nvSpPr>
          <p:cNvPr id="6" name="Footer Placeholder 5">
            <a:extLst>
              <a:ext uri="{FF2B5EF4-FFF2-40B4-BE49-F238E27FC236}">
                <a16:creationId xmlns:a16="http://schemas.microsoft.com/office/drawing/2014/main" id="{D92F41FD-87D4-4503-A430-806878C197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3A0D32-ABF5-4CAA-9F7A-7CB20E778DB6}"/>
              </a:ext>
            </a:extLst>
          </p:cNvPr>
          <p:cNvSpPr>
            <a:spLocks noGrp="1"/>
          </p:cNvSpPr>
          <p:nvPr>
            <p:ph type="sldNum" sz="quarter" idx="12"/>
          </p:nvPr>
        </p:nvSpPr>
        <p:spPr/>
        <p:txBody>
          <a:bodyPr/>
          <a:lstStyle/>
          <a:p>
            <a:fld id="{A9C53AA7-51C3-4B6D-9202-07BF3002E5A7}" type="slidenum">
              <a:rPr lang="en-US" smtClean="0"/>
              <a:t>‹#›</a:t>
            </a:fld>
            <a:endParaRPr lang="en-US"/>
          </a:p>
        </p:txBody>
      </p:sp>
    </p:spTree>
    <p:extLst>
      <p:ext uri="{BB962C8B-B14F-4D97-AF65-F5344CB8AC3E}">
        <p14:creationId xmlns:p14="http://schemas.microsoft.com/office/powerpoint/2010/main" val="808591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A1ADA-DBDC-49AF-822F-D5389363D6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4804BF-C060-483E-9E06-44A5E2AA48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9AA6EE-EE5F-45D6-A76F-F9ABB015A5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35E15E-00C3-4066-A489-8C38294A26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4C2783-A6F3-4D70-ACAF-2CDCFD1AAE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B078A9-2ADA-4E4C-BF09-BE8C7012B601}"/>
              </a:ext>
            </a:extLst>
          </p:cNvPr>
          <p:cNvSpPr>
            <a:spLocks noGrp="1"/>
          </p:cNvSpPr>
          <p:nvPr>
            <p:ph type="dt" sz="half" idx="10"/>
          </p:nvPr>
        </p:nvSpPr>
        <p:spPr/>
        <p:txBody>
          <a:bodyPr/>
          <a:lstStyle/>
          <a:p>
            <a:fld id="{2EBAECA6-81A5-42A4-8D80-6D5600BCCC6B}" type="datetimeFigureOut">
              <a:rPr lang="en-US" smtClean="0"/>
              <a:t>6/8/2026</a:t>
            </a:fld>
            <a:endParaRPr lang="en-US"/>
          </a:p>
        </p:txBody>
      </p:sp>
      <p:sp>
        <p:nvSpPr>
          <p:cNvPr id="8" name="Footer Placeholder 7">
            <a:extLst>
              <a:ext uri="{FF2B5EF4-FFF2-40B4-BE49-F238E27FC236}">
                <a16:creationId xmlns:a16="http://schemas.microsoft.com/office/drawing/2014/main" id="{87B7671E-056B-4600-9FB8-403D6AD04D0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7ACB59-F00F-46BC-9A12-4D7C4054A7C1}"/>
              </a:ext>
            </a:extLst>
          </p:cNvPr>
          <p:cNvSpPr>
            <a:spLocks noGrp="1"/>
          </p:cNvSpPr>
          <p:nvPr>
            <p:ph type="sldNum" sz="quarter" idx="12"/>
          </p:nvPr>
        </p:nvSpPr>
        <p:spPr/>
        <p:txBody>
          <a:bodyPr/>
          <a:lstStyle/>
          <a:p>
            <a:fld id="{A9C53AA7-51C3-4B6D-9202-07BF3002E5A7}" type="slidenum">
              <a:rPr lang="en-US" smtClean="0"/>
              <a:t>‹#›</a:t>
            </a:fld>
            <a:endParaRPr lang="en-US"/>
          </a:p>
        </p:txBody>
      </p:sp>
    </p:spTree>
    <p:extLst>
      <p:ext uri="{BB962C8B-B14F-4D97-AF65-F5344CB8AC3E}">
        <p14:creationId xmlns:p14="http://schemas.microsoft.com/office/powerpoint/2010/main" val="1672420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83F90-F752-478F-A191-E68EEFD759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CB47EF-64CD-4074-A654-66B67AF7C00B}"/>
              </a:ext>
            </a:extLst>
          </p:cNvPr>
          <p:cNvSpPr>
            <a:spLocks noGrp="1"/>
          </p:cNvSpPr>
          <p:nvPr>
            <p:ph type="dt" sz="half" idx="10"/>
          </p:nvPr>
        </p:nvSpPr>
        <p:spPr/>
        <p:txBody>
          <a:bodyPr/>
          <a:lstStyle/>
          <a:p>
            <a:fld id="{2EBAECA6-81A5-42A4-8D80-6D5600BCCC6B}" type="datetimeFigureOut">
              <a:rPr lang="en-US" smtClean="0"/>
              <a:t>6/8/2026</a:t>
            </a:fld>
            <a:endParaRPr lang="en-US"/>
          </a:p>
        </p:txBody>
      </p:sp>
      <p:sp>
        <p:nvSpPr>
          <p:cNvPr id="4" name="Footer Placeholder 3">
            <a:extLst>
              <a:ext uri="{FF2B5EF4-FFF2-40B4-BE49-F238E27FC236}">
                <a16:creationId xmlns:a16="http://schemas.microsoft.com/office/drawing/2014/main" id="{FA831F50-CB72-41D2-815F-F06E493014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228B0F-53A8-43D9-ADFF-44D2F254314D}"/>
              </a:ext>
            </a:extLst>
          </p:cNvPr>
          <p:cNvSpPr>
            <a:spLocks noGrp="1"/>
          </p:cNvSpPr>
          <p:nvPr>
            <p:ph type="sldNum" sz="quarter" idx="12"/>
          </p:nvPr>
        </p:nvSpPr>
        <p:spPr/>
        <p:txBody>
          <a:bodyPr/>
          <a:lstStyle/>
          <a:p>
            <a:fld id="{A9C53AA7-51C3-4B6D-9202-07BF3002E5A7}" type="slidenum">
              <a:rPr lang="en-US" smtClean="0"/>
              <a:t>‹#›</a:t>
            </a:fld>
            <a:endParaRPr lang="en-US"/>
          </a:p>
        </p:txBody>
      </p:sp>
    </p:spTree>
    <p:extLst>
      <p:ext uri="{BB962C8B-B14F-4D97-AF65-F5344CB8AC3E}">
        <p14:creationId xmlns:p14="http://schemas.microsoft.com/office/powerpoint/2010/main" val="1364022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275A0E-98B2-4E40-8E23-59160CDB24FF}"/>
              </a:ext>
            </a:extLst>
          </p:cNvPr>
          <p:cNvSpPr>
            <a:spLocks noGrp="1"/>
          </p:cNvSpPr>
          <p:nvPr>
            <p:ph type="dt" sz="half" idx="10"/>
          </p:nvPr>
        </p:nvSpPr>
        <p:spPr/>
        <p:txBody>
          <a:bodyPr/>
          <a:lstStyle/>
          <a:p>
            <a:fld id="{2EBAECA6-81A5-42A4-8D80-6D5600BCCC6B}" type="datetimeFigureOut">
              <a:rPr lang="en-US" smtClean="0"/>
              <a:t>6/8/2026</a:t>
            </a:fld>
            <a:endParaRPr lang="en-US"/>
          </a:p>
        </p:txBody>
      </p:sp>
      <p:sp>
        <p:nvSpPr>
          <p:cNvPr id="3" name="Footer Placeholder 2">
            <a:extLst>
              <a:ext uri="{FF2B5EF4-FFF2-40B4-BE49-F238E27FC236}">
                <a16:creationId xmlns:a16="http://schemas.microsoft.com/office/drawing/2014/main" id="{3E8CC489-925B-4BE0-85ED-9460CF613A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D87B2A-9EBE-48AB-8938-8B8B92B5152D}"/>
              </a:ext>
            </a:extLst>
          </p:cNvPr>
          <p:cNvSpPr>
            <a:spLocks noGrp="1"/>
          </p:cNvSpPr>
          <p:nvPr>
            <p:ph type="sldNum" sz="quarter" idx="12"/>
          </p:nvPr>
        </p:nvSpPr>
        <p:spPr/>
        <p:txBody>
          <a:bodyPr/>
          <a:lstStyle/>
          <a:p>
            <a:fld id="{A9C53AA7-51C3-4B6D-9202-07BF3002E5A7}" type="slidenum">
              <a:rPr lang="en-US" smtClean="0"/>
              <a:t>‹#›</a:t>
            </a:fld>
            <a:endParaRPr lang="en-US"/>
          </a:p>
        </p:txBody>
      </p:sp>
    </p:spTree>
    <p:extLst>
      <p:ext uri="{BB962C8B-B14F-4D97-AF65-F5344CB8AC3E}">
        <p14:creationId xmlns:p14="http://schemas.microsoft.com/office/powerpoint/2010/main" val="3879490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B5FB8-35F8-4936-8AEE-375A6886B1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A27A3C-8250-4BD9-9175-7D7C2EA7E9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4F3F5D-BA72-4F00-A9EC-489010DC61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28586F-1B86-436C-A48E-931012FDD4C6}"/>
              </a:ext>
            </a:extLst>
          </p:cNvPr>
          <p:cNvSpPr>
            <a:spLocks noGrp="1"/>
          </p:cNvSpPr>
          <p:nvPr>
            <p:ph type="dt" sz="half" idx="10"/>
          </p:nvPr>
        </p:nvSpPr>
        <p:spPr/>
        <p:txBody>
          <a:bodyPr/>
          <a:lstStyle/>
          <a:p>
            <a:fld id="{2EBAECA6-81A5-42A4-8D80-6D5600BCCC6B}" type="datetimeFigureOut">
              <a:rPr lang="en-US" smtClean="0"/>
              <a:t>6/8/2026</a:t>
            </a:fld>
            <a:endParaRPr lang="en-US"/>
          </a:p>
        </p:txBody>
      </p:sp>
      <p:sp>
        <p:nvSpPr>
          <p:cNvPr id="6" name="Footer Placeholder 5">
            <a:extLst>
              <a:ext uri="{FF2B5EF4-FFF2-40B4-BE49-F238E27FC236}">
                <a16:creationId xmlns:a16="http://schemas.microsoft.com/office/drawing/2014/main" id="{CAC055C7-29EC-4F75-8D23-5A838A70B6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619968-0C38-43FB-92AC-549062D4A705}"/>
              </a:ext>
            </a:extLst>
          </p:cNvPr>
          <p:cNvSpPr>
            <a:spLocks noGrp="1"/>
          </p:cNvSpPr>
          <p:nvPr>
            <p:ph type="sldNum" sz="quarter" idx="12"/>
          </p:nvPr>
        </p:nvSpPr>
        <p:spPr/>
        <p:txBody>
          <a:bodyPr/>
          <a:lstStyle/>
          <a:p>
            <a:fld id="{A9C53AA7-51C3-4B6D-9202-07BF3002E5A7}" type="slidenum">
              <a:rPr lang="en-US" smtClean="0"/>
              <a:t>‹#›</a:t>
            </a:fld>
            <a:endParaRPr lang="en-US"/>
          </a:p>
        </p:txBody>
      </p:sp>
    </p:spTree>
    <p:extLst>
      <p:ext uri="{BB962C8B-B14F-4D97-AF65-F5344CB8AC3E}">
        <p14:creationId xmlns:p14="http://schemas.microsoft.com/office/powerpoint/2010/main" val="2237323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3689E-6CC8-4C01-B13F-959B557D56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7DA1A0-11AE-4667-941A-04F582F9CC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F8D0BB-D16D-4912-9B69-0FB84F3D36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B5A763-D95F-4FE2-BE79-1D9136786DAB}"/>
              </a:ext>
            </a:extLst>
          </p:cNvPr>
          <p:cNvSpPr>
            <a:spLocks noGrp="1"/>
          </p:cNvSpPr>
          <p:nvPr>
            <p:ph type="dt" sz="half" idx="10"/>
          </p:nvPr>
        </p:nvSpPr>
        <p:spPr/>
        <p:txBody>
          <a:bodyPr/>
          <a:lstStyle/>
          <a:p>
            <a:fld id="{2EBAECA6-81A5-42A4-8D80-6D5600BCCC6B}" type="datetimeFigureOut">
              <a:rPr lang="en-US" smtClean="0"/>
              <a:t>6/8/2026</a:t>
            </a:fld>
            <a:endParaRPr lang="en-US"/>
          </a:p>
        </p:txBody>
      </p:sp>
      <p:sp>
        <p:nvSpPr>
          <p:cNvPr id="6" name="Footer Placeholder 5">
            <a:extLst>
              <a:ext uri="{FF2B5EF4-FFF2-40B4-BE49-F238E27FC236}">
                <a16:creationId xmlns:a16="http://schemas.microsoft.com/office/drawing/2014/main" id="{CA93A1A7-58B8-463C-91DD-F721970511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2B7F50-9D32-41B9-B1CC-98482E00FE75}"/>
              </a:ext>
            </a:extLst>
          </p:cNvPr>
          <p:cNvSpPr>
            <a:spLocks noGrp="1"/>
          </p:cNvSpPr>
          <p:nvPr>
            <p:ph type="sldNum" sz="quarter" idx="12"/>
          </p:nvPr>
        </p:nvSpPr>
        <p:spPr/>
        <p:txBody>
          <a:bodyPr/>
          <a:lstStyle/>
          <a:p>
            <a:fld id="{A9C53AA7-51C3-4B6D-9202-07BF3002E5A7}" type="slidenum">
              <a:rPr lang="en-US" smtClean="0"/>
              <a:t>‹#›</a:t>
            </a:fld>
            <a:endParaRPr lang="en-US"/>
          </a:p>
        </p:txBody>
      </p:sp>
    </p:spTree>
    <p:extLst>
      <p:ext uri="{BB962C8B-B14F-4D97-AF65-F5344CB8AC3E}">
        <p14:creationId xmlns:p14="http://schemas.microsoft.com/office/powerpoint/2010/main" val="3700381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42682-89A1-48A1-B2BD-F9F7FB20F7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EC5D22-DC1F-4FAA-A77C-B3E550F111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2219CE-F869-4F2C-87DD-F534D0FECA04}"/>
              </a:ext>
            </a:extLst>
          </p:cNvPr>
          <p:cNvSpPr>
            <a:spLocks noGrp="1"/>
          </p:cNvSpPr>
          <p:nvPr>
            <p:ph type="dt" sz="half" idx="10"/>
          </p:nvPr>
        </p:nvSpPr>
        <p:spPr/>
        <p:txBody>
          <a:bodyPr/>
          <a:lstStyle/>
          <a:p>
            <a:fld id="{2EBAECA6-81A5-42A4-8D80-6D5600BCCC6B}" type="datetimeFigureOut">
              <a:rPr lang="en-US" smtClean="0"/>
              <a:t>6/8/2026</a:t>
            </a:fld>
            <a:endParaRPr lang="en-US"/>
          </a:p>
        </p:txBody>
      </p:sp>
      <p:sp>
        <p:nvSpPr>
          <p:cNvPr id="5" name="Footer Placeholder 4">
            <a:extLst>
              <a:ext uri="{FF2B5EF4-FFF2-40B4-BE49-F238E27FC236}">
                <a16:creationId xmlns:a16="http://schemas.microsoft.com/office/drawing/2014/main" id="{6209EF20-EEBB-4D6B-9664-3631A7AE7D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8DCEA0-AD31-4AD0-B4E5-720A17ED7195}"/>
              </a:ext>
            </a:extLst>
          </p:cNvPr>
          <p:cNvSpPr>
            <a:spLocks noGrp="1"/>
          </p:cNvSpPr>
          <p:nvPr>
            <p:ph type="sldNum" sz="quarter" idx="12"/>
          </p:nvPr>
        </p:nvSpPr>
        <p:spPr/>
        <p:txBody>
          <a:bodyPr/>
          <a:lstStyle/>
          <a:p>
            <a:fld id="{A9C53AA7-51C3-4B6D-9202-07BF3002E5A7}" type="slidenum">
              <a:rPr lang="en-US" smtClean="0"/>
              <a:t>‹#›</a:t>
            </a:fld>
            <a:endParaRPr lang="en-US"/>
          </a:p>
        </p:txBody>
      </p:sp>
    </p:spTree>
    <p:extLst>
      <p:ext uri="{BB962C8B-B14F-4D97-AF65-F5344CB8AC3E}">
        <p14:creationId xmlns:p14="http://schemas.microsoft.com/office/powerpoint/2010/main" val="2390400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7B2CCF-9444-4387-95DB-B8A80BC0B9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14E891-C05D-4681-B450-B94C76851C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E218C7-7CE0-4405-A947-67DA4D77EA87}"/>
              </a:ext>
            </a:extLst>
          </p:cNvPr>
          <p:cNvSpPr>
            <a:spLocks noGrp="1"/>
          </p:cNvSpPr>
          <p:nvPr>
            <p:ph type="dt" sz="half" idx="10"/>
          </p:nvPr>
        </p:nvSpPr>
        <p:spPr/>
        <p:txBody>
          <a:bodyPr/>
          <a:lstStyle/>
          <a:p>
            <a:fld id="{2EBAECA6-81A5-42A4-8D80-6D5600BCCC6B}" type="datetimeFigureOut">
              <a:rPr lang="en-US" smtClean="0"/>
              <a:t>6/8/2026</a:t>
            </a:fld>
            <a:endParaRPr lang="en-US"/>
          </a:p>
        </p:txBody>
      </p:sp>
      <p:sp>
        <p:nvSpPr>
          <p:cNvPr id="5" name="Footer Placeholder 4">
            <a:extLst>
              <a:ext uri="{FF2B5EF4-FFF2-40B4-BE49-F238E27FC236}">
                <a16:creationId xmlns:a16="http://schemas.microsoft.com/office/drawing/2014/main" id="{70AFA49C-723D-4E10-A2A7-AE277DF5CD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8C17F5-5EE5-42B3-A53A-4F7A44460ABB}"/>
              </a:ext>
            </a:extLst>
          </p:cNvPr>
          <p:cNvSpPr>
            <a:spLocks noGrp="1"/>
          </p:cNvSpPr>
          <p:nvPr>
            <p:ph type="sldNum" sz="quarter" idx="12"/>
          </p:nvPr>
        </p:nvSpPr>
        <p:spPr/>
        <p:txBody>
          <a:bodyPr/>
          <a:lstStyle/>
          <a:p>
            <a:fld id="{A9C53AA7-51C3-4B6D-9202-07BF3002E5A7}" type="slidenum">
              <a:rPr lang="en-US" smtClean="0"/>
              <a:t>‹#›</a:t>
            </a:fld>
            <a:endParaRPr lang="en-US"/>
          </a:p>
        </p:txBody>
      </p:sp>
    </p:spTree>
    <p:extLst>
      <p:ext uri="{BB962C8B-B14F-4D97-AF65-F5344CB8AC3E}">
        <p14:creationId xmlns:p14="http://schemas.microsoft.com/office/powerpoint/2010/main" val="67049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44A3AA-61F5-4D08-B3FB-4CD19D5ECA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1CB70B-CB7E-4E12-BB93-9ACCD405B2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CDAAEA-392D-473A-9ADF-5289B1864F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BAECA6-81A5-42A4-8D80-6D5600BCCC6B}" type="datetimeFigureOut">
              <a:rPr lang="en-US" smtClean="0"/>
              <a:t>6/8/2026</a:t>
            </a:fld>
            <a:endParaRPr lang="en-US"/>
          </a:p>
        </p:txBody>
      </p:sp>
      <p:sp>
        <p:nvSpPr>
          <p:cNvPr id="5" name="Footer Placeholder 4">
            <a:extLst>
              <a:ext uri="{FF2B5EF4-FFF2-40B4-BE49-F238E27FC236}">
                <a16:creationId xmlns:a16="http://schemas.microsoft.com/office/drawing/2014/main" id="{D592D539-337D-482E-902B-9C61912B3C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F14685-DD6F-414D-8890-46802856F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C53AA7-51C3-4B6D-9202-07BF3002E5A7}" type="slidenum">
              <a:rPr lang="en-US" smtClean="0"/>
              <a:t>‹#›</a:t>
            </a:fld>
            <a:endParaRPr lang="en-US"/>
          </a:p>
        </p:txBody>
      </p:sp>
    </p:spTree>
    <p:extLst>
      <p:ext uri="{BB962C8B-B14F-4D97-AF65-F5344CB8AC3E}">
        <p14:creationId xmlns:p14="http://schemas.microsoft.com/office/powerpoint/2010/main" val="15932526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1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B801AC-A1F3-4C56-9AC5-F4CE3F551C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1873" y="213533"/>
            <a:ext cx="8025329" cy="3486614"/>
          </a:xfrm>
          <a:prstGeom prst="rect">
            <a:avLst/>
          </a:prstGeom>
        </p:spPr>
      </p:pic>
      <p:sp>
        <p:nvSpPr>
          <p:cNvPr id="2" name="Title 1">
            <a:extLst>
              <a:ext uri="{FF2B5EF4-FFF2-40B4-BE49-F238E27FC236}">
                <a16:creationId xmlns:a16="http://schemas.microsoft.com/office/drawing/2014/main" id="{3853BA54-F38B-456F-A9DA-979F1FE98222}"/>
              </a:ext>
            </a:extLst>
          </p:cNvPr>
          <p:cNvSpPr>
            <a:spLocks noGrp="1"/>
          </p:cNvSpPr>
          <p:nvPr>
            <p:ph type="ctrTitle"/>
          </p:nvPr>
        </p:nvSpPr>
        <p:spPr>
          <a:xfrm flipH="1">
            <a:off x="2697364" y="3880793"/>
            <a:ext cx="6441672" cy="803956"/>
          </a:xfrm>
        </p:spPr>
        <p:txBody>
          <a:bodyPr anchor="ctr">
            <a:normAutofit/>
          </a:bodyPr>
          <a:lstStyle/>
          <a:p>
            <a:r>
              <a:rPr lang="en-US" sz="2800" dirty="0">
                <a:effectLst/>
                <a:latin typeface="Times New Roman" panose="02020603050405020304" pitchFamily="18" charset="0"/>
                <a:ea typeface="Times New Roman" panose="02020603050405020304" pitchFamily="18" charset="0"/>
              </a:rPr>
              <a:t>CS 600: Artificial Intelligence Foundations</a:t>
            </a:r>
            <a:endParaRPr lang="en-US" sz="2800" dirty="0"/>
          </a:p>
        </p:txBody>
      </p:sp>
      <p:sp>
        <p:nvSpPr>
          <p:cNvPr id="3" name="Subtitle 2">
            <a:extLst>
              <a:ext uri="{FF2B5EF4-FFF2-40B4-BE49-F238E27FC236}">
                <a16:creationId xmlns:a16="http://schemas.microsoft.com/office/drawing/2014/main" id="{C8F1EA2A-BB24-42BF-BA58-5918FC21ED7C}"/>
              </a:ext>
            </a:extLst>
          </p:cNvPr>
          <p:cNvSpPr>
            <a:spLocks noGrp="1"/>
          </p:cNvSpPr>
          <p:nvPr>
            <p:ph type="subTitle" idx="1"/>
          </p:nvPr>
        </p:nvSpPr>
        <p:spPr>
          <a:xfrm>
            <a:off x="606828" y="4876800"/>
            <a:ext cx="11074400" cy="803956"/>
          </a:xfrm>
        </p:spPr>
        <p:txBody>
          <a:bodyPr anchor="ctr">
            <a:normAutofit/>
          </a:bodyPr>
          <a:lstStyle/>
          <a:p>
            <a:r>
              <a:rPr lang="en-US" sz="3600" b="1" dirty="0">
                <a:effectLst/>
                <a:latin typeface="Times New Roman" panose="02020603050405020304" pitchFamily="18" charset="0"/>
                <a:ea typeface="Times New Roman" panose="02020603050405020304" pitchFamily="18" charset="0"/>
              </a:rPr>
              <a:t>Foundations of Artificial Intelligence</a:t>
            </a:r>
            <a:endParaRPr lang="en-US" sz="3600" dirty="0"/>
          </a:p>
        </p:txBody>
      </p:sp>
      <p:pic>
        <p:nvPicPr>
          <p:cNvPr id="6" name="Picture 5">
            <a:extLst>
              <a:ext uri="{FF2B5EF4-FFF2-40B4-BE49-F238E27FC236}">
                <a16:creationId xmlns:a16="http://schemas.microsoft.com/office/drawing/2014/main" id="{1854FB35-3126-42E8-BF86-699BE75FD6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6828" y="0"/>
            <a:ext cx="2667000" cy="2105025"/>
          </a:xfrm>
          <a:prstGeom prst="rect">
            <a:avLst/>
          </a:prstGeom>
        </p:spPr>
      </p:pic>
      <p:sp>
        <p:nvSpPr>
          <p:cNvPr id="4" name="Rectangle: Rounded Corners 3">
            <a:extLst>
              <a:ext uri="{FF2B5EF4-FFF2-40B4-BE49-F238E27FC236}">
                <a16:creationId xmlns:a16="http://schemas.microsoft.com/office/drawing/2014/main" id="{107FEC3B-13E5-4525-9790-598F0862D636}"/>
              </a:ext>
            </a:extLst>
          </p:cNvPr>
          <p:cNvSpPr/>
          <p:nvPr/>
        </p:nvSpPr>
        <p:spPr>
          <a:xfrm>
            <a:off x="857690" y="699235"/>
            <a:ext cx="2165276" cy="9560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169992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49767-A222-4C04-A75E-B937387FB104}"/>
              </a:ext>
            </a:extLst>
          </p:cNvPr>
          <p:cNvSpPr>
            <a:spLocks noGrp="1"/>
          </p:cNvSpPr>
          <p:nvPr>
            <p:ph type="title"/>
          </p:nvPr>
        </p:nvSpPr>
        <p:spPr/>
        <p:txBody>
          <a:bodyPr>
            <a:normAutofit/>
          </a:bodyPr>
          <a:lstStyle/>
          <a:p>
            <a:r>
              <a:rPr lang="en-US" sz="3200" b="1" kern="1800" dirty="0">
                <a:effectLst/>
                <a:latin typeface="+mn-lt"/>
                <a:ea typeface="Times New Roman" panose="02020603050405020304" pitchFamily="18" charset="0"/>
              </a:rPr>
              <a:t>What Is Artificial Intelligence?</a:t>
            </a:r>
            <a:endParaRPr lang="en-US" sz="3200" dirty="0">
              <a:latin typeface="+mn-lt"/>
            </a:endParaRPr>
          </a:p>
        </p:txBody>
      </p:sp>
      <p:sp>
        <p:nvSpPr>
          <p:cNvPr id="3" name="Content Placeholder 2">
            <a:extLst>
              <a:ext uri="{FF2B5EF4-FFF2-40B4-BE49-F238E27FC236}">
                <a16:creationId xmlns:a16="http://schemas.microsoft.com/office/drawing/2014/main" id="{22AD8B21-FBD3-4CB5-BB84-71A6605F7795}"/>
              </a:ext>
            </a:extLst>
          </p:cNvPr>
          <p:cNvSpPr>
            <a:spLocks noGrp="1"/>
          </p:cNvSpPr>
          <p:nvPr>
            <p:ph idx="1"/>
          </p:nvPr>
        </p:nvSpPr>
        <p:spPr>
          <a:xfrm>
            <a:off x="838200" y="1825625"/>
            <a:ext cx="4991100" cy="4351338"/>
          </a:xfrm>
        </p:spPr>
        <p:txBody>
          <a:bodyPr>
            <a:norm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Artificial Intelligence (AI) is a branch of computer science</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Focuses on creating systems that can perform tasks that normally require human intelligence</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Examples: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Voice assistants (Siri, Alexa)</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Recommendation systems (Netflix, Amazon)</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Spam filters and navigation apps</a:t>
            </a:r>
            <a:endParaRPr lang="en-US" sz="1800" dirty="0">
              <a:effectLst/>
              <a:ea typeface="Calibri" panose="020F0502020204030204" pitchFamily="34" charset="0"/>
              <a:cs typeface="Times New Roman" panose="02020603050405020304" pitchFamily="18" charset="0"/>
            </a:endParaRPr>
          </a:p>
          <a:p>
            <a:endParaRPr lang="en-US" sz="1800" dirty="0"/>
          </a:p>
        </p:txBody>
      </p:sp>
      <p:pic>
        <p:nvPicPr>
          <p:cNvPr id="5" name="Picture 4">
            <a:extLst>
              <a:ext uri="{FF2B5EF4-FFF2-40B4-BE49-F238E27FC236}">
                <a16:creationId xmlns:a16="http://schemas.microsoft.com/office/drawing/2014/main" id="{9E46599C-AE18-4C29-9F73-2EE9BB9A29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690688"/>
            <a:ext cx="5257800" cy="2960141"/>
          </a:xfrm>
          <a:prstGeom prst="rect">
            <a:avLst/>
          </a:prstGeom>
        </p:spPr>
      </p:pic>
    </p:spTree>
    <p:custDataLst>
      <p:tags r:id="rId1"/>
    </p:custDataLst>
    <p:extLst>
      <p:ext uri="{BB962C8B-B14F-4D97-AF65-F5344CB8AC3E}">
        <p14:creationId xmlns:p14="http://schemas.microsoft.com/office/powerpoint/2010/main" val="3770453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49767-A222-4C04-A75E-B937387FB104}"/>
              </a:ext>
            </a:extLst>
          </p:cNvPr>
          <p:cNvSpPr>
            <a:spLocks noGrp="1"/>
          </p:cNvSpPr>
          <p:nvPr>
            <p:ph type="title"/>
          </p:nvPr>
        </p:nvSpPr>
        <p:spPr/>
        <p:txBody>
          <a:bodyPr>
            <a:normAutofit/>
          </a:bodyPr>
          <a:lstStyle/>
          <a:p>
            <a:r>
              <a:rPr lang="en-US" sz="3200" b="1" kern="1800" dirty="0">
                <a:effectLst/>
                <a:latin typeface="+mn-lt"/>
                <a:ea typeface="Times New Roman" panose="02020603050405020304" pitchFamily="18" charset="0"/>
              </a:rPr>
              <a:t>Why AI Matters?</a:t>
            </a:r>
            <a:endParaRPr lang="en-US" sz="3200" dirty="0">
              <a:latin typeface="+mn-lt"/>
            </a:endParaRPr>
          </a:p>
        </p:txBody>
      </p:sp>
      <p:sp>
        <p:nvSpPr>
          <p:cNvPr id="3" name="Content Placeholder 2">
            <a:extLst>
              <a:ext uri="{FF2B5EF4-FFF2-40B4-BE49-F238E27FC236}">
                <a16:creationId xmlns:a16="http://schemas.microsoft.com/office/drawing/2014/main" id="{22AD8B21-FBD3-4CB5-BB84-71A6605F7795}"/>
              </a:ext>
            </a:extLst>
          </p:cNvPr>
          <p:cNvSpPr>
            <a:spLocks noGrp="1"/>
          </p:cNvSpPr>
          <p:nvPr>
            <p:ph idx="1"/>
          </p:nvPr>
        </p:nvSpPr>
        <p:spPr>
          <a:xfrm>
            <a:off x="838200" y="1825625"/>
            <a:ext cx="5257800" cy="4351338"/>
          </a:xfrm>
        </p:spPr>
        <p:txBody>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Helps analyze large amounts of data</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Automates tasks</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Supports decision-making</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Used in everyday technology, often without us noticing it</a:t>
            </a:r>
            <a:endParaRPr lang="en-US" sz="1800" dirty="0">
              <a:effectLst/>
              <a:ea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6E8F4CAB-735A-48F1-8EE2-1BB775919C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588770"/>
            <a:ext cx="5257800" cy="3680460"/>
          </a:xfrm>
          <a:prstGeom prst="rect">
            <a:avLst/>
          </a:prstGeom>
        </p:spPr>
      </p:pic>
    </p:spTree>
    <p:custDataLst>
      <p:tags r:id="rId1"/>
    </p:custDataLst>
    <p:extLst>
      <p:ext uri="{BB962C8B-B14F-4D97-AF65-F5344CB8AC3E}">
        <p14:creationId xmlns:p14="http://schemas.microsoft.com/office/powerpoint/2010/main" val="3528448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1B66F-210A-408E-985E-FB54950C0818}"/>
              </a:ext>
            </a:extLst>
          </p:cNvPr>
          <p:cNvSpPr>
            <a:spLocks noGrp="1"/>
          </p:cNvSpPr>
          <p:nvPr>
            <p:ph type="title"/>
          </p:nvPr>
        </p:nvSpPr>
        <p:spPr/>
        <p:txBody>
          <a:bodyPr>
            <a:normAutofit/>
          </a:bodyPr>
          <a:lstStyle/>
          <a:p>
            <a:r>
              <a:rPr lang="en-US" sz="3200" b="1" kern="1800" dirty="0">
                <a:effectLst/>
                <a:latin typeface="Times New Roman" panose="02020603050405020304" pitchFamily="18" charset="0"/>
                <a:ea typeface="Times New Roman" panose="02020603050405020304" pitchFamily="18" charset="0"/>
              </a:rPr>
              <a:t>Core </a:t>
            </a:r>
            <a:r>
              <a:rPr lang="en-US" sz="3200" b="1" kern="1800" dirty="0">
                <a:effectLst/>
                <a:latin typeface="+mn-lt"/>
                <a:ea typeface="Times New Roman" panose="02020603050405020304" pitchFamily="18" charset="0"/>
              </a:rPr>
              <a:t>Ideas</a:t>
            </a:r>
            <a:r>
              <a:rPr lang="en-US" sz="3200" b="1" kern="1800" dirty="0">
                <a:effectLst/>
                <a:latin typeface="Times New Roman" panose="02020603050405020304" pitchFamily="18" charset="0"/>
                <a:ea typeface="Times New Roman" panose="02020603050405020304" pitchFamily="18" charset="0"/>
              </a:rPr>
              <a:t> Behind AI</a:t>
            </a:r>
            <a:endParaRPr lang="en-US" sz="3200" dirty="0"/>
          </a:p>
        </p:txBody>
      </p:sp>
      <p:sp>
        <p:nvSpPr>
          <p:cNvPr id="3" name="Content Placeholder 2">
            <a:extLst>
              <a:ext uri="{FF2B5EF4-FFF2-40B4-BE49-F238E27FC236}">
                <a16:creationId xmlns:a16="http://schemas.microsoft.com/office/drawing/2014/main" id="{2E0B2BA6-C1D9-40DD-ADE4-D761B8141CCB}"/>
              </a:ext>
            </a:extLst>
          </p:cNvPr>
          <p:cNvSpPr>
            <a:spLocks noGrp="1"/>
          </p:cNvSpPr>
          <p:nvPr>
            <p:ph idx="1"/>
          </p:nvPr>
        </p:nvSpPr>
        <p:spPr>
          <a:xfrm>
            <a:off x="838200" y="1825625"/>
            <a:ext cx="5118100" cy="4351338"/>
          </a:xfrm>
        </p:spPr>
        <p:txBody>
          <a:bodyPr>
            <a:norm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AI systems are built around a few key concepts: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Intelligent agents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Data and knowledge</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Learning and adaptation</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Reasoning and decision-making</a:t>
            </a:r>
            <a:endParaRPr lang="en-US" sz="1800" dirty="0">
              <a:effectLst/>
              <a:ea typeface="Calibri" panose="020F0502020204030204" pitchFamily="34" charset="0"/>
              <a:cs typeface="Times New Roman" panose="02020603050405020304" pitchFamily="18" charset="0"/>
            </a:endParaRPr>
          </a:p>
          <a:p>
            <a:pPr marL="0" indent="0">
              <a:buNone/>
            </a:pPr>
            <a:endParaRPr lang="en-US" sz="1800" dirty="0"/>
          </a:p>
        </p:txBody>
      </p:sp>
      <p:pic>
        <p:nvPicPr>
          <p:cNvPr id="6" name="Picture 5">
            <a:extLst>
              <a:ext uri="{FF2B5EF4-FFF2-40B4-BE49-F238E27FC236}">
                <a16:creationId xmlns:a16="http://schemas.microsoft.com/office/drawing/2014/main" id="{B5CDB04D-B910-4465-9C70-6335293A3364}"/>
              </a:ext>
            </a:extLst>
          </p:cNvPr>
          <p:cNvPicPr>
            <a:picLocks noChangeAspect="1"/>
          </p:cNvPicPr>
          <p:nvPr/>
        </p:nvPicPr>
        <p:blipFill>
          <a:blip r:embed="rId4"/>
          <a:stretch>
            <a:fillRect/>
          </a:stretch>
        </p:blipFill>
        <p:spPr>
          <a:xfrm>
            <a:off x="6235702" y="1027906"/>
            <a:ext cx="5560256" cy="3706837"/>
          </a:xfrm>
          <a:prstGeom prst="rect">
            <a:avLst/>
          </a:prstGeom>
        </p:spPr>
      </p:pic>
      <p:sp>
        <p:nvSpPr>
          <p:cNvPr id="7" name="TextBox 6">
            <a:extLst>
              <a:ext uri="{FF2B5EF4-FFF2-40B4-BE49-F238E27FC236}">
                <a16:creationId xmlns:a16="http://schemas.microsoft.com/office/drawing/2014/main" id="{2B1FDDA7-BC22-4AAE-AE9F-BCF7F994FB84}"/>
              </a:ext>
            </a:extLst>
          </p:cNvPr>
          <p:cNvSpPr txBox="1"/>
          <p:nvPr/>
        </p:nvSpPr>
        <p:spPr>
          <a:xfrm>
            <a:off x="6344529" y="4760555"/>
            <a:ext cx="5118100" cy="261610"/>
          </a:xfrm>
          <a:prstGeom prst="rect">
            <a:avLst/>
          </a:prstGeom>
          <a:noFill/>
        </p:spPr>
        <p:txBody>
          <a:bodyPr wrap="square" rtlCol="0">
            <a:spAutoFit/>
          </a:bodyPr>
          <a:lstStyle/>
          <a:p>
            <a:r>
              <a:rPr lang="en-US" sz="1100" dirty="0"/>
              <a:t>Image created using ChatGPT</a:t>
            </a:r>
          </a:p>
        </p:txBody>
      </p:sp>
    </p:spTree>
    <p:custDataLst>
      <p:tags r:id="rId1"/>
    </p:custDataLst>
    <p:extLst>
      <p:ext uri="{BB962C8B-B14F-4D97-AF65-F5344CB8AC3E}">
        <p14:creationId xmlns:p14="http://schemas.microsoft.com/office/powerpoint/2010/main" val="3217385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096ED-4FA6-451D-99C5-BB5E860DBDEC}"/>
              </a:ext>
            </a:extLst>
          </p:cNvPr>
          <p:cNvSpPr>
            <a:spLocks noGrp="1"/>
          </p:cNvSpPr>
          <p:nvPr>
            <p:ph type="title"/>
          </p:nvPr>
        </p:nvSpPr>
        <p:spPr/>
        <p:txBody>
          <a:bodyPr>
            <a:normAutofit/>
          </a:bodyPr>
          <a:lstStyle/>
          <a:p>
            <a:r>
              <a:rPr lang="en-US" sz="3200" b="1" kern="1800" dirty="0">
                <a:effectLst/>
                <a:latin typeface="+mn-lt"/>
                <a:ea typeface="Times New Roman" panose="02020603050405020304" pitchFamily="18" charset="0"/>
                <a:cs typeface="Times New Roman" panose="02020603050405020304" pitchFamily="18" charset="0"/>
              </a:rPr>
              <a:t>Intelligent Agents</a:t>
            </a:r>
            <a:endParaRPr lang="en-US" sz="3200" dirty="0">
              <a:latin typeface="+mn-lt"/>
            </a:endParaRPr>
          </a:p>
        </p:txBody>
      </p:sp>
      <p:sp>
        <p:nvSpPr>
          <p:cNvPr id="3" name="Content Placeholder 2">
            <a:extLst>
              <a:ext uri="{FF2B5EF4-FFF2-40B4-BE49-F238E27FC236}">
                <a16:creationId xmlns:a16="http://schemas.microsoft.com/office/drawing/2014/main" id="{4B3A5696-11D8-4918-A29C-8FE12DF9DCB1}"/>
              </a:ext>
            </a:extLst>
          </p:cNvPr>
          <p:cNvSpPr>
            <a:spLocks noGrp="1"/>
          </p:cNvSpPr>
          <p:nvPr>
            <p:ph idx="1"/>
          </p:nvPr>
        </p:nvSpPr>
        <p:spPr>
          <a:xfrm>
            <a:off x="838200" y="1825625"/>
            <a:ext cx="5143500" cy="4351338"/>
          </a:xfrm>
        </p:spPr>
        <p:txBody>
          <a:bodyPr>
            <a:norm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An intelligent agent:</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Observes its environment</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Makes decisions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Takes actions to achieve a goal</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Examples: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Self-driving car</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Chess-playing program</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Recommendation system</a:t>
            </a:r>
            <a:endParaRPr lang="en-US" sz="1800" dirty="0">
              <a:effectLst/>
              <a:ea typeface="Calibri" panose="020F0502020204030204" pitchFamily="34" charset="0"/>
              <a:cs typeface="Times New Roman" panose="02020603050405020304" pitchFamily="18" charset="0"/>
            </a:endParaRPr>
          </a:p>
          <a:p>
            <a:endParaRPr lang="en-US" sz="1800" dirty="0"/>
          </a:p>
        </p:txBody>
      </p:sp>
      <p:pic>
        <p:nvPicPr>
          <p:cNvPr id="5" name="Picture 4">
            <a:extLst>
              <a:ext uri="{FF2B5EF4-FFF2-40B4-BE49-F238E27FC236}">
                <a16:creationId xmlns:a16="http://schemas.microsoft.com/office/drawing/2014/main" id="{6D311418-88A3-4B8D-B930-BE9D68503C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29400" y="941603"/>
            <a:ext cx="4724400" cy="4974793"/>
          </a:xfrm>
          <a:prstGeom prst="rect">
            <a:avLst/>
          </a:prstGeom>
        </p:spPr>
      </p:pic>
    </p:spTree>
    <p:custDataLst>
      <p:tags r:id="rId1"/>
    </p:custDataLst>
    <p:extLst>
      <p:ext uri="{BB962C8B-B14F-4D97-AF65-F5344CB8AC3E}">
        <p14:creationId xmlns:p14="http://schemas.microsoft.com/office/powerpoint/2010/main" val="2671149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454E-0855-49EC-9876-59582351E1F6}"/>
              </a:ext>
            </a:extLst>
          </p:cNvPr>
          <p:cNvSpPr>
            <a:spLocks noGrp="1"/>
          </p:cNvSpPr>
          <p:nvPr>
            <p:ph type="title"/>
          </p:nvPr>
        </p:nvSpPr>
        <p:spPr/>
        <p:txBody>
          <a:bodyPr>
            <a:normAutofit/>
          </a:bodyPr>
          <a:lstStyle/>
          <a:p>
            <a:r>
              <a:rPr lang="en-US" sz="3200" b="1" kern="1800" dirty="0">
                <a:effectLst/>
                <a:latin typeface="+mn-lt"/>
                <a:ea typeface="Times New Roman" panose="02020603050405020304" pitchFamily="18" charset="0"/>
                <a:cs typeface="Times New Roman" panose="02020603050405020304" pitchFamily="18" charset="0"/>
              </a:rPr>
              <a:t>Data and Knowledge</a:t>
            </a:r>
            <a:endParaRPr lang="en-US" sz="3200" dirty="0">
              <a:latin typeface="+mn-lt"/>
            </a:endParaRPr>
          </a:p>
        </p:txBody>
      </p:sp>
      <p:sp>
        <p:nvSpPr>
          <p:cNvPr id="3" name="Content Placeholder 2">
            <a:extLst>
              <a:ext uri="{FF2B5EF4-FFF2-40B4-BE49-F238E27FC236}">
                <a16:creationId xmlns:a16="http://schemas.microsoft.com/office/drawing/2014/main" id="{56632C9D-5BBE-4952-ADBC-E9B95EB35DF1}"/>
              </a:ext>
            </a:extLst>
          </p:cNvPr>
          <p:cNvSpPr>
            <a:spLocks noGrp="1"/>
          </p:cNvSpPr>
          <p:nvPr>
            <p:ph idx="1"/>
          </p:nvPr>
        </p:nvSpPr>
        <p:spPr>
          <a:xfrm>
            <a:off x="838200" y="1825625"/>
            <a:ext cx="5257800" cy="4351338"/>
          </a:xfrm>
        </p:spPr>
        <p:txBody>
          <a:bodyPr>
            <a:norm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AI systems rely on:</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Data (examples, information, experiences)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Knowledge (rules, relationships, patterns)</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Two common approaches: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Rule-based systems (written by humans)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Data-driven systems (machine learning)</a:t>
            </a:r>
            <a:endParaRPr lang="en-US" sz="1800" dirty="0">
              <a:effectLst/>
              <a:ea typeface="Calibri" panose="020F0502020204030204" pitchFamily="34" charset="0"/>
              <a:cs typeface="Times New Roman" panose="02020603050405020304" pitchFamily="18" charset="0"/>
            </a:endParaRPr>
          </a:p>
          <a:p>
            <a:endParaRPr lang="en-US" sz="1800" dirty="0"/>
          </a:p>
        </p:txBody>
      </p:sp>
      <p:pic>
        <p:nvPicPr>
          <p:cNvPr id="7" name="Picture 6">
            <a:extLst>
              <a:ext uri="{FF2B5EF4-FFF2-40B4-BE49-F238E27FC236}">
                <a16:creationId xmlns:a16="http://schemas.microsoft.com/office/drawing/2014/main" id="{8D047B6E-E1E1-4E5A-A615-326F20E66C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28951" y="1690688"/>
            <a:ext cx="4724849" cy="2466371"/>
          </a:xfrm>
          <a:prstGeom prst="rect">
            <a:avLst/>
          </a:prstGeom>
        </p:spPr>
      </p:pic>
    </p:spTree>
    <p:custDataLst>
      <p:tags r:id="rId1"/>
    </p:custDataLst>
    <p:extLst>
      <p:ext uri="{BB962C8B-B14F-4D97-AF65-F5344CB8AC3E}">
        <p14:creationId xmlns:p14="http://schemas.microsoft.com/office/powerpoint/2010/main" val="4161464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D71DC-1625-4CFF-9B44-A92D27973726}"/>
              </a:ext>
            </a:extLst>
          </p:cNvPr>
          <p:cNvSpPr>
            <a:spLocks noGrp="1"/>
          </p:cNvSpPr>
          <p:nvPr>
            <p:ph type="title"/>
          </p:nvPr>
        </p:nvSpPr>
        <p:spPr/>
        <p:txBody>
          <a:bodyPr>
            <a:normAutofit/>
          </a:bodyPr>
          <a:lstStyle/>
          <a:p>
            <a:r>
              <a:rPr lang="en-US" sz="3200" b="1" kern="1800" dirty="0">
                <a:effectLst/>
                <a:latin typeface="+mn-lt"/>
                <a:ea typeface="Times New Roman" panose="02020603050405020304" pitchFamily="18" charset="0"/>
              </a:rPr>
              <a:t>Learning and Adaptation</a:t>
            </a:r>
            <a:endParaRPr lang="en-US" sz="3200" dirty="0">
              <a:latin typeface="+mn-lt"/>
            </a:endParaRPr>
          </a:p>
        </p:txBody>
      </p:sp>
      <p:sp>
        <p:nvSpPr>
          <p:cNvPr id="3" name="Content Placeholder 2">
            <a:extLst>
              <a:ext uri="{FF2B5EF4-FFF2-40B4-BE49-F238E27FC236}">
                <a16:creationId xmlns:a16="http://schemas.microsoft.com/office/drawing/2014/main" id="{98C8F1C8-2B81-49D9-957E-A5820D1AC24A}"/>
              </a:ext>
            </a:extLst>
          </p:cNvPr>
          <p:cNvSpPr>
            <a:spLocks noGrp="1"/>
          </p:cNvSpPr>
          <p:nvPr>
            <p:ph idx="1"/>
          </p:nvPr>
        </p:nvSpPr>
        <p:spPr>
          <a:xfrm>
            <a:off x="6235700" y="1825625"/>
            <a:ext cx="5702300" cy="4295775"/>
          </a:xfrm>
        </p:spPr>
        <p:txBody>
          <a:bodyPr>
            <a:norm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Many AI systems can learn over time</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Learning means: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Improving performance with experience</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Finding patterns in data</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Example:</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Streaming services are learning your preferences</a:t>
            </a:r>
            <a:endParaRPr lang="en-US" sz="1800" dirty="0">
              <a:effectLst/>
              <a:ea typeface="Calibri" panose="020F0502020204030204" pitchFamily="34" charset="0"/>
              <a:cs typeface="Times New Roman" panose="02020603050405020304" pitchFamily="18" charset="0"/>
            </a:endParaRPr>
          </a:p>
          <a:p>
            <a:endParaRPr lang="en-US" sz="1800" dirty="0"/>
          </a:p>
        </p:txBody>
      </p:sp>
      <p:pic>
        <p:nvPicPr>
          <p:cNvPr id="5" name="Picture 4">
            <a:extLst>
              <a:ext uri="{FF2B5EF4-FFF2-40B4-BE49-F238E27FC236}">
                <a16:creationId xmlns:a16="http://schemas.microsoft.com/office/drawing/2014/main" id="{38F12D64-10C6-4789-A0BD-D27169576C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694" y="2143824"/>
            <a:ext cx="5377306" cy="2570352"/>
          </a:xfrm>
          <a:prstGeom prst="rect">
            <a:avLst/>
          </a:prstGeom>
        </p:spPr>
      </p:pic>
    </p:spTree>
    <p:custDataLst>
      <p:tags r:id="rId1"/>
    </p:custDataLst>
    <p:extLst>
      <p:ext uri="{BB962C8B-B14F-4D97-AF65-F5344CB8AC3E}">
        <p14:creationId xmlns:p14="http://schemas.microsoft.com/office/powerpoint/2010/main" val="271981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221C62-1E37-411A-8FC6-38C2D61E8C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5420" y="473710"/>
            <a:ext cx="11821160" cy="5910580"/>
          </a:xfrm>
          <a:prstGeom prst="rect">
            <a:avLst/>
          </a:prstGeom>
        </p:spPr>
      </p:pic>
      <p:sp>
        <p:nvSpPr>
          <p:cNvPr id="2" name="Title 1">
            <a:extLst>
              <a:ext uri="{FF2B5EF4-FFF2-40B4-BE49-F238E27FC236}">
                <a16:creationId xmlns:a16="http://schemas.microsoft.com/office/drawing/2014/main" id="{F90C98B9-6D4A-4ACE-B164-20BC497956CC}"/>
              </a:ext>
            </a:extLst>
          </p:cNvPr>
          <p:cNvSpPr>
            <a:spLocks noGrp="1"/>
          </p:cNvSpPr>
          <p:nvPr>
            <p:ph type="title"/>
          </p:nvPr>
        </p:nvSpPr>
        <p:spPr/>
        <p:txBody>
          <a:bodyPr>
            <a:normAutofit/>
          </a:bodyPr>
          <a:lstStyle/>
          <a:p>
            <a:r>
              <a:rPr lang="en-US" sz="3200" b="1" kern="1800" dirty="0">
                <a:solidFill>
                  <a:schemeClr val="bg1"/>
                </a:solidFill>
                <a:effectLst/>
                <a:latin typeface="+mn-lt"/>
                <a:ea typeface="Times New Roman" panose="02020603050405020304" pitchFamily="18" charset="0"/>
                <a:cs typeface="Times New Roman" panose="02020603050405020304" pitchFamily="18" charset="0"/>
              </a:rPr>
              <a:t>Reasoning and Decision-Making</a:t>
            </a:r>
            <a:endParaRPr lang="en-US" sz="3200" dirty="0">
              <a:solidFill>
                <a:schemeClr val="bg1"/>
              </a:solidFill>
              <a:latin typeface="+mn-lt"/>
            </a:endParaRPr>
          </a:p>
        </p:txBody>
      </p:sp>
      <p:sp>
        <p:nvSpPr>
          <p:cNvPr id="3" name="Content Placeholder 2">
            <a:extLst>
              <a:ext uri="{FF2B5EF4-FFF2-40B4-BE49-F238E27FC236}">
                <a16:creationId xmlns:a16="http://schemas.microsoft.com/office/drawing/2014/main" id="{18190478-2A20-4498-BB40-D2AD62656FCE}"/>
              </a:ext>
            </a:extLst>
          </p:cNvPr>
          <p:cNvSpPr>
            <a:spLocks noGrp="1"/>
          </p:cNvSpPr>
          <p:nvPr>
            <p:ph idx="1"/>
          </p:nvPr>
        </p:nvSpPr>
        <p:spPr>
          <a:xfrm>
            <a:off x="838200" y="1825625"/>
            <a:ext cx="4292600" cy="4351338"/>
          </a:xfrm>
        </p:spPr>
        <p:txBody>
          <a:bodyPr>
            <a:norm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solidFill>
                  <a:schemeClr val="bg1"/>
                </a:solidFill>
                <a:effectLst/>
                <a:ea typeface="Times New Roman" panose="02020603050405020304" pitchFamily="18" charset="0"/>
                <a:cs typeface="Times New Roman" panose="02020603050405020304" pitchFamily="18" charset="0"/>
              </a:rPr>
              <a:t>AI systems must choose the best action</a:t>
            </a:r>
            <a:endParaRPr lang="en-US" sz="1800" dirty="0">
              <a:solidFill>
                <a:schemeClr val="bg1"/>
              </a:solidFill>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solidFill>
                  <a:schemeClr val="bg1"/>
                </a:solidFill>
                <a:effectLst/>
                <a:ea typeface="Times New Roman" panose="02020603050405020304" pitchFamily="18" charset="0"/>
                <a:cs typeface="Times New Roman" panose="02020603050405020304" pitchFamily="18" charset="0"/>
              </a:rPr>
              <a:t>This may involve:</a:t>
            </a:r>
            <a:endParaRPr lang="en-US" sz="1800" dirty="0">
              <a:solidFill>
                <a:schemeClr val="bg1"/>
              </a:solidFill>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solidFill>
                  <a:schemeClr val="bg1"/>
                </a:solidFill>
                <a:effectLst/>
                <a:ea typeface="Times New Roman" panose="02020603050405020304" pitchFamily="18" charset="0"/>
                <a:cs typeface="Times New Roman" panose="02020603050405020304" pitchFamily="18" charset="0"/>
              </a:rPr>
              <a:t>Logic and rules</a:t>
            </a:r>
            <a:endParaRPr lang="en-US" sz="1800" dirty="0">
              <a:solidFill>
                <a:schemeClr val="bg1"/>
              </a:solidFill>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solidFill>
                  <a:schemeClr val="bg1"/>
                </a:solidFill>
                <a:effectLst/>
                <a:ea typeface="Times New Roman" panose="02020603050405020304" pitchFamily="18" charset="0"/>
                <a:cs typeface="Times New Roman" panose="02020603050405020304" pitchFamily="18" charset="0"/>
              </a:rPr>
              <a:t>Comparing options</a:t>
            </a:r>
            <a:endParaRPr lang="en-US" sz="1800" dirty="0">
              <a:solidFill>
                <a:schemeClr val="bg1"/>
              </a:solidFill>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solidFill>
                  <a:schemeClr val="bg1"/>
                </a:solidFill>
                <a:effectLst/>
                <a:ea typeface="Times New Roman" panose="02020603050405020304" pitchFamily="18" charset="0"/>
                <a:cs typeface="Times New Roman" panose="02020603050405020304" pitchFamily="18" charset="0"/>
              </a:rPr>
              <a:t>Using probabilities</a:t>
            </a:r>
            <a:endParaRPr lang="en-US" sz="1800" dirty="0">
              <a:solidFill>
                <a:schemeClr val="bg1"/>
              </a:solidFill>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solidFill>
                  <a:schemeClr val="bg1"/>
                </a:solidFill>
                <a:effectLst/>
                <a:ea typeface="Times New Roman" panose="02020603050405020304" pitchFamily="18" charset="0"/>
                <a:cs typeface="Times New Roman" panose="02020603050405020304" pitchFamily="18" charset="0"/>
              </a:rPr>
              <a:t>Goal: Make the best possible decision with available information</a:t>
            </a:r>
            <a:endParaRPr lang="en-US" sz="1800" dirty="0">
              <a:solidFill>
                <a:schemeClr val="bg1"/>
              </a:solidFill>
              <a:effectLst/>
              <a:ea typeface="Calibri" panose="020F0502020204030204" pitchFamily="34" charset="0"/>
              <a:cs typeface="Times New Roman" panose="02020603050405020304" pitchFamily="18" charset="0"/>
            </a:endParaRPr>
          </a:p>
          <a:p>
            <a:endParaRPr lang="en-US" sz="1800" dirty="0">
              <a:solidFill>
                <a:schemeClr val="bg1"/>
              </a:solidFill>
            </a:endParaRPr>
          </a:p>
        </p:txBody>
      </p:sp>
    </p:spTree>
    <p:custDataLst>
      <p:tags r:id="rId1"/>
    </p:custDataLst>
    <p:extLst>
      <p:ext uri="{BB962C8B-B14F-4D97-AF65-F5344CB8AC3E}">
        <p14:creationId xmlns:p14="http://schemas.microsoft.com/office/powerpoint/2010/main" val="818658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80E22-697B-4EDE-B69B-69D9CE4CB1E4}"/>
              </a:ext>
            </a:extLst>
          </p:cNvPr>
          <p:cNvSpPr>
            <a:spLocks noGrp="1"/>
          </p:cNvSpPr>
          <p:nvPr>
            <p:ph type="title"/>
          </p:nvPr>
        </p:nvSpPr>
        <p:spPr/>
        <p:txBody>
          <a:bodyPr>
            <a:normAutofit/>
          </a:bodyPr>
          <a:lstStyle/>
          <a:p>
            <a:r>
              <a:rPr lang="en-US" sz="3200" b="1" kern="1800" dirty="0">
                <a:effectLst/>
                <a:latin typeface="Times New Roman" panose="02020603050405020304" pitchFamily="18" charset="0"/>
                <a:ea typeface="Times New Roman" panose="02020603050405020304" pitchFamily="18" charset="0"/>
              </a:rPr>
              <a:t>Types of Artificial Intelligence</a:t>
            </a:r>
            <a:endParaRPr lang="en-US" sz="3200" dirty="0"/>
          </a:p>
        </p:txBody>
      </p:sp>
      <p:sp>
        <p:nvSpPr>
          <p:cNvPr id="3" name="Content Placeholder 2">
            <a:extLst>
              <a:ext uri="{FF2B5EF4-FFF2-40B4-BE49-F238E27FC236}">
                <a16:creationId xmlns:a16="http://schemas.microsoft.com/office/drawing/2014/main" id="{B08AA53D-A3A9-4461-B2DC-023C0B5C9C33}"/>
              </a:ext>
            </a:extLst>
          </p:cNvPr>
          <p:cNvSpPr>
            <a:spLocks noGrp="1"/>
          </p:cNvSpPr>
          <p:nvPr>
            <p:ph idx="1"/>
          </p:nvPr>
        </p:nvSpPr>
        <p:spPr>
          <a:xfrm>
            <a:off x="838200" y="1825625"/>
            <a:ext cx="4216400" cy="4351338"/>
          </a:xfrm>
        </p:spPr>
        <p:txBody>
          <a:bodyPr>
            <a:norm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Two major categories: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Narrow (Weak) AI</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General (Strong) AI</a:t>
            </a:r>
            <a:endParaRPr lang="en-US" sz="1800" dirty="0">
              <a:effectLst/>
              <a:ea typeface="Calibri" panose="020F0502020204030204" pitchFamily="34" charset="0"/>
              <a:cs typeface="Times New Roman" panose="02020603050405020304" pitchFamily="18" charset="0"/>
            </a:endParaRPr>
          </a:p>
          <a:p>
            <a:endParaRPr lang="en-US" sz="1800" dirty="0"/>
          </a:p>
        </p:txBody>
      </p:sp>
      <p:pic>
        <p:nvPicPr>
          <p:cNvPr id="5" name="Picture 4">
            <a:extLst>
              <a:ext uri="{FF2B5EF4-FFF2-40B4-BE49-F238E27FC236}">
                <a16:creationId xmlns:a16="http://schemas.microsoft.com/office/drawing/2014/main" id="{C9D9D477-7214-4118-90DB-89EED0705E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825625"/>
            <a:ext cx="5277532" cy="3525392"/>
          </a:xfrm>
          <a:prstGeom prst="rect">
            <a:avLst/>
          </a:prstGeom>
        </p:spPr>
      </p:pic>
    </p:spTree>
    <p:custDataLst>
      <p:tags r:id="rId1"/>
    </p:custDataLst>
    <p:extLst>
      <p:ext uri="{BB962C8B-B14F-4D97-AF65-F5344CB8AC3E}">
        <p14:creationId xmlns:p14="http://schemas.microsoft.com/office/powerpoint/2010/main" val="961519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D3F3D-7C86-43D2-B55B-0154A28F9F7F}"/>
              </a:ext>
            </a:extLst>
          </p:cNvPr>
          <p:cNvSpPr>
            <a:spLocks noGrp="1"/>
          </p:cNvSpPr>
          <p:nvPr>
            <p:ph type="title"/>
          </p:nvPr>
        </p:nvSpPr>
        <p:spPr/>
        <p:txBody>
          <a:bodyPr>
            <a:normAutofit/>
          </a:bodyPr>
          <a:lstStyle/>
          <a:p>
            <a:r>
              <a:rPr lang="en-US" sz="3200" b="1" kern="1800" dirty="0">
                <a:effectLst/>
                <a:latin typeface="+mn-lt"/>
                <a:ea typeface="Times New Roman" panose="02020603050405020304" pitchFamily="18" charset="0"/>
              </a:rPr>
              <a:t>Narrow (Weak) AI</a:t>
            </a:r>
            <a:endParaRPr lang="en-US" sz="3200" dirty="0">
              <a:latin typeface="+mn-lt"/>
            </a:endParaRPr>
          </a:p>
        </p:txBody>
      </p:sp>
      <p:sp>
        <p:nvSpPr>
          <p:cNvPr id="3" name="Content Placeholder 2">
            <a:extLst>
              <a:ext uri="{FF2B5EF4-FFF2-40B4-BE49-F238E27FC236}">
                <a16:creationId xmlns:a16="http://schemas.microsoft.com/office/drawing/2014/main" id="{5FA262F7-EE58-4D6F-A6C5-487827D069A2}"/>
              </a:ext>
            </a:extLst>
          </p:cNvPr>
          <p:cNvSpPr>
            <a:spLocks noGrp="1"/>
          </p:cNvSpPr>
          <p:nvPr>
            <p:ph idx="1"/>
          </p:nvPr>
        </p:nvSpPr>
        <p:spPr>
          <a:xfrm>
            <a:off x="838200" y="1825625"/>
            <a:ext cx="10515600" cy="4351338"/>
          </a:xfrm>
        </p:spPr>
        <p:txBody>
          <a:bodyPr>
            <a:norm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Designed to perform a specific task</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Examples: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Voice assistants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Facial recognition</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Spam filters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Recommendation systems</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All AI in use today is Narrow AI</a:t>
            </a:r>
            <a:endParaRPr lang="en-US" sz="1800" dirty="0">
              <a:effectLst/>
              <a:ea typeface="Calibri" panose="020F0502020204030204" pitchFamily="34" charset="0"/>
              <a:cs typeface="Times New Roman" panose="02020603050405020304" pitchFamily="18" charset="0"/>
            </a:endParaRPr>
          </a:p>
          <a:p>
            <a:endParaRPr lang="en-US" sz="1800" dirty="0"/>
          </a:p>
        </p:txBody>
      </p:sp>
      <p:pic>
        <p:nvPicPr>
          <p:cNvPr id="5" name="Picture 4">
            <a:extLst>
              <a:ext uri="{FF2B5EF4-FFF2-40B4-BE49-F238E27FC236}">
                <a16:creationId xmlns:a16="http://schemas.microsoft.com/office/drawing/2014/main" id="{7FA6B4E1-3FDF-459A-A1E4-7336197AE257}"/>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4908709" y="1143000"/>
            <a:ext cx="2374582" cy="4572000"/>
          </a:xfrm>
          <a:prstGeom prst="rect">
            <a:avLst/>
          </a:prstGeom>
        </p:spPr>
      </p:pic>
    </p:spTree>
    <p:custDataLst>
      <p:tags r:id="rId1"/>
    </p:custDataLst>
    <p:extLst>
      <p:ext uri="{BB962C8B-B14F-4D97-AF65-F5344CB8AC3E}">
        <p14:creationId xmlns:p14="http://schemas.microsoft.com/office/powerpoint/2010/main" val="3387067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14E3B-4490-412E-ABAA-595F2CE5E74B}"/>
              </a:ext>
            </a:extLst>
          </p:cNvPr>
          <p:cNvSpPr>
            <a:spLocks noGrp="1"/>
          </p:cNvSpPr>
          <p:nvPr>
            <p:ph type="title"/>
          </p:nvPr>
        </p:nvSpPr>
        <p:spPr/>
        <p:txBody>
          <a:bodyPr>
            <a:normAutofit/>
          </a:bodyPr>
          <a:lstStyle/>
          <a:p>
            <a:r>
              <a:rPr lang="en-US" sz="3200" b="1" kern="1800" dirty="0">
                <a:effectLst/>
                <a:latin typeface="+mn-lt"/>
                <a:ea typeface="Times New Roman" panose="02020603050405020304" pitchFamily="18" charset="0"/>
                <a:cs typeface="Times New Roman" panose="02020603050405020304" pitchFamily="18" charset="0"/>
              </a:rPr>
              <a:t>General (Strong) AI</a:t>
            </a:r>
            <a:endParaRPr lang="en-US" sz="3200" dirty="0">
              <a:latin typeface="+mn-lt"/>
            </a:endParaRPr>
          </a:p>
        </p:txBody>
      </p:sp>
      <p:sp>
        <p:nvSpPr>
          <p:cNvPr id="3" name="Content Placeholder 2">
            <a:extLst>
              <a:ext uri="{FF2B5EF4-FFF2-40B4-BE49-F238E27FC236}">
                <a16:creationId xmlns:a16="http://schemas.microsoft.com/office/drawing/2014/main" id="{DD2F5CB1-94BD-4453-9EF0-AC882CB58E20}"/>
              </a:ext>
            </a:extLst>
          </p:cNvPr>
          <p:cNvSpPr>
            <a:spLocks noGrp="1"/>
          </p:cNvSpPr>
          <p:nvPr>
            <p:ph idx="1"/>
          </p:nvPr>
        </p:nvSpPr>
        <p:spPr/>
        <p:txBody>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Would be able to perform any intellectual task a human can</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Could learn and reason across many areas</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Does not currently exist</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Remains a long-term research goal</a:t>
            </a:r>
            <a:endParaRPr lang="en-US" sz="1800" dirty="0">
              <a:effectLst/>
              <a:ea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0FCA2946-AE2C-4B34-BFD0-B663223D0A24}"/>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7073742" y="1027906"/>
            <a:ext cx="2311717" cy="4572000"/>
          </a:xfrm>
          <a:prstGeom prst="rect">
            <a:avLst/>
          </a:prstGeom>
        </p:spPr>
      </p:pic>
    </p:spTree>
    <p:custDataLst>
      <p:tags r:id="rId1"/>
    </p:custDataLst>
    <p:extLst>
      <p:ext uri="{BB962C8B-B14F-4D97-AF65-F5344CB8AC3E}">
        <p14:creationId xmlns:p14="http://schemas.microsoft.com/office/powerpoint/2010/main" val="2854678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1691-BAD8-4A56-9463-2FCD3B28AF6C}"/>
              </a:ext>
            </a:extLst>
          </p:cNvPr>
          <p:cNvSpPr>
            <a:spLocks noGrp="1"/>
          </p:cNvSpPr>
          <p:nvPr>
            <p:ph type="title"/>
          </p:nvPr>
        </p:nvSpPr>
        <p:spPr/>
        <p:txBody>
          <a:bodyPr>
            <a:normAutofit/>
          </a:bodyPr>
          <a:lstStyle/>
          <a:p>
            <a:r>
              <a:rPr lang="en-US" sz="3200" b="1" kern="1800" dirty="0">
                <a:effectLst/>
                <a:latin typeface="+mn-lt"/>
                <a:ea typeface="Times New Roman" panose="02020603050405020304" pitchFamily="18" charset="0"/>
                <a:cs typeface="Times New Roman" panose="02020603050405020304" pitchFamily="18" charset="0"/>
              </a:rPr>
              <a:t>Why These Foundations Matter</a:t>
            </a:r>
            <a:endParaRPr lang="en-US" sz="3200" dirty="0">
              <a:latin typeface="+mn-lt"/>
            </a:endParaRPr>
          </a:p>
        </p:txBody>
      </p:sp>
      <p:sp>
        <p:nvSpPr>
          <p:cNvPr id="3" name="Content Placeholder 2">
            <a:extLst>
              <a:ext uri="{FF2B5EF4-FFF2-40B4-BE49-F238E27FC236}">
                <a16:creationId xmlns:a16="http://schemas.microsoft.com/office/drawing/2014/main" id="{9266B284-0F05-40D2-BD58-4E7B689084B5}"/>
              </a:ext>
            </a:extLst>
          </p:cNvPr>
          <p:cNvSpPr>
            <a:spLocks noGrp="1"/>
          </p:cNvSpPr>
          <p:nvPr>
            <p:ph idx="1"/>
          </p:nvPr>
        </p:nvSpPr>
        <p:spPr/>
        <p:txBody>
          <a:bodyPr>
            <a:norm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Helps us: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Understand how AI really works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Recognize its limits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Use AI responsibly</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AI is not magic:</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Built by humans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Trained on data</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Guided by algorithms</a:t>
            </a:r>
            <a:endParaRPr lang="en-US" sz="1800" dirty="0">
              <a:effectLst/>
              <a:ea typeface="Calibri" panose="020F0502020204030204" pitchFamily="34" charset="0"/>
              <a:cs typeface="Times New Roman" panose="02020603050405020304" pitchFamily="18" charset="0"/>
            </a:endParaRPr>
          </a:p>
          <a:p>
            <a:endParaRPr lang="en-US" sz="1800" dirty="0"/>
          </a:p>
        </p:txBody>
      </p:sp>
      <p:pic>
        <p:nvPicPr>
          <p:cNvPr id="5" name="Picture 4">
            <a:extLst>
              <a:ext uri="{FF2B5EF4-FFF2-40B4-BE49-F238E27FC236}">
                <a16:creationId xmlns:a16="http://schemas.microsoft.com/office/drawing/2014/main" id="{98530473-17BA-4479-8D3B-490D3A109E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7699" y="1852612"/>
            <a:ext cx="5753239" cy="3152775"/>
          </a:xfrm>
          <a:prstGeom prst="rect">
            <a:avLst/>
          </a:prstGeom>
        </p:spPr>
      </p:pic>
    </p:spTree>
    <p:custDataLst>
      <p:tags r:id="rId1"/>
    </p:custDataLst>
    <p:extLst>
      <p:ext uri="{BB962C8B-B14F-4D97-AF65-F5344CB8AC3E}">
        <p14:creationId xmlns:p14="http://schemas.microsoft.com/office/powerpoint/2010/main" val="4124460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D39DF-280E-4520-A58F-99188EA2A26D}"/>
              </a:ext>
            </a:extLst>
          </p:cNvPr>
          <p:cNvSpPr>
            <a:spLocks noGrp="1"/>
          </p:cNvSpPr>
          <p:nvPr>
            <p:ph type="title"/>
          </p:nvPr>
        </p:nvSpPr>
        <p:spPr/>
        <p:txBody>
          <a:bodyPr/>
          <a:lstStyle/>
          <a:p>
            <a:r>
              <a:rPr lang="en-US" sz="1800" b="1" kern="1800" dirty="0">
                <a:effectLst/>
                <a:latin typeface="Times New Roman" panose="02020603050405020304" pitchFamily="18" charset="0"/>
                <a:ea typeface="Times New Roman" panose="02020603050405020304" pitchFamily="18" charset="0"/>
              </a:rPr>
              <a:t>Knowledge Check</a:t>
            </a:r>
            <a:endParaRPr lang="en-US" dirty="0"/>
          </a:p>
        </p:txBody>
      </p:sp>
      <p:sp>
        <p:nvSpPr>
          <p:cNvPr id="11" name="ISPRING_QUIZ_SHAPE0">
            <a:extLst>
              <a:ext uri="{FF2B5EF4-FFF2-40B4-BE49-F238E27FC236}">
                <a16:creationId xmlns:a16="http://schemas.microsoft.com/office/drawing/2014/main" id="{3CA94CA8-476D-4014-AD20-CB63E8C41E86}"/>
              </a:ext>
            </a:extLst>
          </p:cNvPr>
          <p:cNvSpPr/>
          <p:nvPr/>
        </p:nvSpPr>
        <p:spPr>
          <a:xfrm>
            <a:off x="0" y="0"/>
            <a:ext cx="12192000" cy="6858000"/>
          </a:xfrm>
          <a:prstGeom prst="rect">
            <a:avLst/>
          </a:prstGeom>
          <a:solidFill>
            <a:srgbClr val="FFFFFF"/>
          </a:solidFill>
          <a:ln w="12700" cap="flat" cmpd="sng" algn="ctr">
            <a:noFill/>
            <a:prstDash val="solid"/>
            <a:miter lim="800000"/>
          </a:ln>
          <a:effectLst>
            <a:innerShdw>
              <a:scrgbClr r="0" g="0" b="0">
                <a:alpha val="0"/>
              </a:scrgbClr>
            </a:inn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ISPRING_QUIZ_SHAPE1">
            <a:extLst>
              <a:ext uri="{FF2B5EF4-FFF2-40B4-BE49-F238E27FC236}">
                <a16:creationId xmlns:a16="http://schemas.microsoft.com/office/drawing/2014/main" id="{56CA30F7-7410-4C73-A032-0B44C59A9B5A}"/>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a:xfrm>
            <a:off x="2147570" y="1851660"/>
            <a:ext cx="7899400" cy="4445000"/>
          </a:xfrm>
          <a:prstGeom prst="rect">
            <a:avLst/>
          </a:prstGeom>
          <a:effectLst>
            <a:outerShdw blurRad="114300" dist="38100" dir="5400000" rotWithShape="0">
              <a:scrgbClr r="0" g="0" b="0">
                <a:alpha val="20000"/>
              </a:scrgbClr>
            </a:outerShdw>
          </a:effectLst>
        </p:spPr>
      </p:pic>
      <p:sp>
        <p:nvSpPr>
          <p:cNvPr id="14" name="ISPRING_QUIZ_SHAPE2">
            <a:extLst>
              <a:ext uri="{FF2B5EF4-FFF2-40B4-BE49-F238E27FC236}">
                <a16:creationId xmlns:a16="http://schemas.microsoft.com/office/drawing/2014/main" id="{7F09D14A-CF68-4F2F-BF43-27DCEEAD6344}"/>
              </a:ext>
            </a:extLst>
          </p:cNvPr>
          <p:cNvSpPr txBox="1"/>
          <p:nvPr/>
        </p:nvSpPr>
        <p:spPr>
          <a:xfrm>
            <a:off x="731520" y="411480"/>
            <a:ext cx="10728960" cy="553998"/>
          </a:xfrm>
          <a:prstGeom prst="rect">
            <a:avLst/>
          </a:prstGeom>
          <a:noFill/>
          <a:effectLst>
            <a:innerShdw>
              <a:scrgbClr r="0" g="0" b="0">
                <a:alpha val="0"/>
              </a:scrgbClr>
            </a:innerShdw>
          </a:effectLst>
        </p:spPr>
        <p:txBody>
          <a:bodyPr vert="horz" rtlCol="0">
            <a:spAutoFit/>
          </a:bodyPr>
          <a:lstStyle/>
          <a:p>
            <a:pPr algn="ctr"/>
            <a:r>
              <a:rPr lang="en-US" sz="3000" dirty="0">
                <a:solidFill>
                  <a:srgbClr val="343944"/>
                </a:solidFill>
                <a:effectLst/>
                <a:latin typeface="Segoe UI" panose="020B0502040204020203" pitchFamily="34" charset="0"/>
              </a:rPr>
              <a:t>   Quiz</a:t>
            </a:r>
          </a:p>
        </p:txBody>
      </p:sp>
      <p:pic>
        <p:nvPicPr>
          <p:cNvPr id="16" name="ISPRING_QUIZ_SHAPE3">
            <a:extLst>
              <a:ext uri="{FF2B5EF4-FFF2-40B4-BE49-F238E27FC236}">
                <a16:creationId xmlns:a16="http://schemas.microsoft.com/office/drawing/2014/main" id="{A84BA338-A48C-4831-A7BB-0A201C843C24}"/>
              </a:ext>
            </a:extLst>
          </p:cNvPr>
          <p:cNvPicPr>
            <a:picLocks/>
          </p:cNvPicPr>
          <p:nvPr/>
        </p:nvPicPr>
        <p:blipFill>
          <a:blip r:embed="rId5">
            <a:extLst>
              <a:ext uri="{28A0092B-C50C-407E-A947-70E740481C1C}">
                <a14:useLocalDpi xmlns:a14="http://schemas.microsoft.com/office/drawing/2010/main" val="0"/>
              </a:ext>
            </a:extLst>
          </a:blip>
          <a:srcRect/>
          <a:stretch>
            <a:fillRect/>
          </a:stretch>
        </p:blipFill>
        <p:spPr>
          <a:xfrm>
            <a:off x="5357855" y="482600"/>
            <a:ext cx="406400" cy="406400"/>
          </a:xfrm>
          <a:prstGeom prst="rect">
            <a:avLst/>
          </a:prstGeom>
          <a:effectLst>
            <a:innerShdw>
              <a:scrgbClr r="0" g="0" b="0">
                <a:alpha val="0"/>
              </a:scrgbClr>
            </a:innerShdw>
          </a:effectLst>
        </p:spPr>
      </p:pic>
      <p:sp>
        <p:nvSpPr>
          <p:cNvPr id="17" name="ISPRING_QUIZ_SHAPE4">
            <a:extLst>
              <a:ext uri="{FF2B5EF4-FFF2-40B4-BE49-F238E27FC236}">
                <a16:creationId xmlns:a16="http://schemas.microsoft.com/office/drawing/2014/main" id="{0699F708-355B-4A9A-B238-624DA0056C26}"/>
              </a:ext>
            </a:extLst>
          </p:cNvPr>
          <p:cNvSpPr txBox="1"/>
          <p:nvPr/>
        </p:nvSpPr>
        <p:spPr>
          <a:xfrm>
            <a:off x="731520" y="1097280"/>
            <a:ext cx="10728960" cy="430887"/>
          </a:xfrm>
          <a:prstGeom prst="rect">
            <a:avLst/>
          </a:prstGeom>
          <a:noFill/>
          <a:effectLst>
            <a:innerShdw>
              <a:scrgbClr r="0" g="0" b="0">
                <a:alpha val="0"/>
              </a:scrgbClr>
            </a:innerShdw>
          </a:effectLst>
        </p:spPr>
        <p:txBody>
          <a:bodyPr vert="horz" rtlCol="0">
            <a:spAutoFit/>
          </a:bodyPr>
          <a:lstStyle/>
          <a:p>
            <a:pPr algn="ctr"/>
            <a:r>
              <a:rPr lang="en-US" sz="2200" dirty="0">
                <a:solidFill>
                  <a:srgbClr val="343944"/>
                </a:solidFill>
                <a:effectLst/>
                <a:latin typeface="Segoe UI" panose="020B0502040204020203" pitchFamily="34" charset="0"/>
              </a:rPr>
              <a:t>Click the </a:t>
            </a:r>
            <a:r>
              <a:rPr lang="en-US" sz="2200" b="1" dirty="0">
                <a:solidFill>
                  <a:srgbClr val="343944"/>
                </a:solidFill>
                <a:effectLst/>
                <a:latin typeface="Segoe UI Semibold" panose="020B0702040204020203" pitchFamily="34" charset="0"/>
              </a:rPr>
              <a:t>Quiz</a:t>
            </a:r>
            <a:r>
              <a:rPr lang="en-US" sz="2200" dirty="0">
                <a:solidFill>
                  <a:srgbClr val="343944"/>
                </a:solidFill>
                <a:effectLst/>
                <a:latin typeface="Segoe UI" panose="020B0502040204020203" pitchFamily="34" charset="0"/>
              </a:rPr>
              <a:t> button to edit this object</a:t>
            </a:r>
          </a:p>
        </p:txBody>
      </p:sp>
    </p:spTree>
    <p:custDataLst>
      <p:tags r:id="rId1"/>
    </p:custDataLst>
    <p:extLst>
      <p:ext uri="{BB962C8B-B14F-4D97-AF65-F5344CB8AC3E}">
        <p14:creationId xmlns:p14="http://schemas.microsoft.com/office/powerpoint/2010/main" val="706766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D1789-E926-4A47-B457-05569DB348D5}"/>
              </a:ext>
            </a:extLst>
          </p:cNvPr>
          <p:cNvSpPr>
            <a:spLocks noGrp="1"/>
          </p:cNvSpPr>
          <p:nvPr>
            <p:ph type="title"/>
          </p:nvPr>
        </p:nvSpPr>
        <p:spPr/>
        <p:txBody>
          <a:bodyPr>
            <a:normAutofit/>
          </a:bodyPr>
          <a:lstStyle/>
          <a:p>
            <a:r>
              <a:rPr lang="en-US" sz="3200" b="1" kern="1800" dirty="0">
                <a:effectLst/>
                <a:latin typeface="+mn-lt"/>
                <a:ea typeface="Times New Roman" panose="02020603050405020304" pitchFamily="18" charset="0"/>
              </a:rPr>
              <a:t> Summary</a:t>
            </a:r>
            <a:endParaRPr lang="en-US" sz="3200" dirty="0">
              <a:latin typeface="+mn-lt"/>
            </a:endParaRPr>
          </a:p>
        </p:txBody>
      </p:sp>
      <p:sp>
        <p:nvSpPr>
          <p:cNvPr id="3" name="Content Placeholder 2">
            <a:extLst>
              <a:ext uri="{FF2B5EF4-FFF2-40B4-BE49-F238E27FC236}">
                <a16:creationId xmlns:a16="http://schemas.microsoft.com/office/drawing/2014/main" id="{DE092FA2-B6D6-4F3A-9727-73232C3FD4FD}"/>
              </a:ext>
            </a:extLst>
          </p:cNvPr>
          <p:cNvSpPr>
            <a:spLocks noGrp="1"/>
          </p:cNvSpPr>
          <p:nvPr>
            <p:ph idx="1"/>
          </p:nvPr>
        </p:nvSpPr>
        <p:spPr/>
        <p:txBody>
          <a:bodyPr>
            <a:norm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AI systems can:</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Observe</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Learn</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Reason</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Act</a:t>
            </a:r>
            <a:endParaRPr lang="en-US" sz="18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ea typeface="Times New Roman" panose="02020603050405020304" pitchFamily="18" charset="0"/>
                <a:cs typeface="Times New Roman" panose="02020603050405020304" pitchFamily="18" charset="0"/>
              </a:rPr>
              <a:t>Foundations of AI prepare us for:</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Machine learning</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Neural networks</a:t>
            </a:r>
            <a:endParaRPr lang="en-US" sz="1800" dirty="0">
              <a:effectLst/>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800" dirty="0">
                <a:effectLst/>
                <a:ea typeface="Times New Roman" panose="02020603050405020304" pitchFamily="18" charset="0"/>
                <a:cs typeface="Times New Roman" panose="02020603050405020304" pitchFamily="18" charset="0"/>
              </a:rPr>
              <a:t>Ethical considerations in AI</a:t>
            </a:r>
            <a:endParaRPr lang="en-US" sz="1800" dirty="0">
              <a:effectLst/>
              <a:ea typeface="Calibri" panose="020F0502020204030204" pitchFamily="34" charset="0"/>
              <a:cs typeface="Times New Roman" panose="02020603050405020304" pitchFamily="18" charset="0"/>
            </a:endParaRPr>
          </a:p>
          <a:p>
            <a:endParaRPr lang="en-US" sz="1800" dirty="0"/>
          </a:p>
        </p:txBody>
      </p:sp>
      <p:pic>
        <p:nvPicPr>
          <p:cNvPr id="5" name="Picture 4">
            <a:extLst>
              <a:ext uri="{FF2B5EF4-FFF2-40B4-BE49-F238E27FC236}">
                <a16:creationId xmlns:a16="http://schemas.microsoft.com/office/drawing/2014/main" id="{0A68A4C4-3C98-4C15-87BE-F228D87063FA}"/>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5343049" y="1143000"/>
            <a:ext cx="1505902" cy="4572000"/>
          </a:xfrm>
          <a:prstGeom prst="rect">
            <a:avLst/>
          </a:prstGeom>
        </p:spPr>
      </p:pic>
    </p:spTree>
    <p:custDataLst>
      <p:tags r:id="rId1"/>
    </p:custDataLst>
    <p:extLst>
      <p:ext uri="{BB962C8B-B14F-4D97-AF65-F5344CB8AC3E}">
        <p14:creationId xmlns:p14="http://schemas.microsoft.com/office/powerpoint/2010/main" val="3553982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FA6A5-70D9-4AA9-9780-BB763E401837}"/>
              </a:ext>
            </a:extLst>
          </p:cNvPr>
          <p:cNvSpPr>
            <a:spLocks noGrp="1"/>
          </p:cNvSpPr>
          <p:nvPr>
            <p:ph type="title"/>
          </p:nvPr>
        </p:nvSpPr>
        <p:spPr/>
        <p:txBody>
          <a:bodyPr>
            <a:normAutofit/>
          </a:bodyPr>
          <a:lstStyle/>
          <a:p>
            <a:r>
              <a:rPr lang="en-US" sz="3200" b="1" kern="1800" dirty="0">
                <a:effectLst/>
                <a:latin typeface="+mn-lt"/>
                <a:ea typeface="Times New Roman" panose="02020603050405020304" pitchFamily="18" charset="0"/>
              </a:rPr>
              <a:t>Closing</a:t>
            </a:r>
            <a:endParaRPr lang="en-US" sz="3200" dirty="0">
              <a:latin typeface="+mn-lt"/>
            </a:endParaRPr>
          </a:p>
        </p:txBody>
      </p:sp>
      <p:sp>
        <p:nvSpPr>
          <p:cNvPr id="3" name="Content Placeholder 2">
            <a:extLst>
              <a:ext uri="{FF2B5EF4-FFF2-40B4-BE49-F238E27FC236}">
                <a16:creationId xmlns:a16="http://schemas.microsoft.com/office/drawing/2014/main" id="{A32BBAD7-C501-4B92-846C-1B66E84DDF28}"/>
              </a:ext>
            </a:extLst>
          </p:cNvPr>
          <p:cNvSpPr>
            <a:spLocks noGrp="1"/>
          </p:cNvSpPr>
          <p:nvPr>
            <p:ph idx="1"/>
          </p:nvPr>
        </p:nvSpPr>
        <p:spPr/>
        <p:txBody>
          <a:bodyPr/>
          <a:lstStyle/>
          <a:p>
            <a:r>
              <a:rPr lang="en-US" sz="1800" b="1" dirty="0">
                <a:effectLst/>
                <a:ea typeface="Times New Roman" panose="02020603050405020304" pitchFamily="18" charset="0"/>
                <a:cs typeface="Times New Roman" panose="02020603050405020304" pitchFamily="18" charset="0"/>
              </a:rPr>
              <a:t>Next up:</a:t>
            </a:r>
            <a:br>
              <a:rPr lang="en-US" sz="1800" dirty="0">
                <a:effectLst/>
                <a:ea typeface="Times New Roman" panose="02020603050405020304" pitchFamily="18" charset="0"/>
                <a:cs typeface="Times New Roman" panose="02020603050405020304" pitchFamily="18" charset="0"/>
              </a:rPr>
            </a:br>
            <a:r>
              <a:rPr lang="en-US" sz="1800" dirty="0">
                <a:effectLst/>
                <a:ea typeface="Times New Roman" panose="02020603050405020304" pitchFamily="18" charset="0"/>
                <a:cs typeface="Times New Roman" panose="02020603050405020304" pitchFamily="18" charset="0"/>
              </a:rPr>
              <a:t>We’ll build on these foundations by exploring how machines learn and how data drives modern AI systems.</a:t>
            </a:r>
            <a:endParaRPr lang="en-US" sz="1800" dirty="0">
              <a:effectLst/>
              <a:ea typeface="Calibri" panose="020F0502020204030204" pitchFamily="34" charset="0"/>
              <a:cs typeface="Times New Roman" panose="02020603050405020304" pitchFamily="18" charset="0"/>
            </a:endParaRPr>
          </a:p>
          <a:p>
            <a:endParaRPr lang="en-US" dirty="0"/>
          </a:p>
        </p:txBody>
      </p:sp>
    </p:spTree>
    <p:custDataLst>
      <p:tags r:id="rId1"/>
    </p:custDataLst>
    <p:extLst>
      <p:ext uri="{BB962C8B-B14F-4D97-AF65-F5344CB8AC3E}">
        <p14:creationId xmlns:p14="http://schemas.microsoft.com/office/powerpoint/2010/main" val="23109286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OJECT_FOLDER_UPDATED" val="1"/>
  <p:tag name="ISPRING_UUID" val="{D4996E11-FEBB-49E4-9DFC-FA2ECA9BFFE9}"/>
  <p:tag name="ISPRING_PROJECT_VERSION" val="9.3"/>
  <p:tag name="ISPRING_RESOURCE_FOLDER_TIP_DIALOG_SHOWN" val="1"/>
  <p:tag name="ISPRING_FIRST_PUBLISH" val="1"/>
  <p:tag name="ISPRING-SUITE_ISPRING_PLAYERS_CUSTOMIZATION_2" val="{&quot;universal&quot;:{&quot;skinSettings&quot;:{&quot;borderRadius&quot;:20,&quot;colors&quot;:{&quot;asideBackground&quot;:{&quot;color&quot;:&quot;#202024&quot;,&quot;opacity&quot;:1,&quot;type&quot;:&quot;SOLID&quot;},&quot;asideElementBackgroundActive&quot;:{&quot;color&quot;:&quot;#535353&quot;,&quot;opacity&quot;:1,&quot;type&quot;:&quot;SOLID&quot;},&quot;asideElementBackgroundHover&quot;:{&quot;color&quot;:&quot;#3D3D3D&quot;,&quot;opacity&quot;:1,&quot;type&quot;:&quot;SOLID&quot;},&quot;asideElementText&quot;:{&quot;color&quot;:&quot;#D8D8D8&quot;,&quot;opacity&quot;:1,&quot;type&quot;:&quot;SOLID&quot;},&quot;asideElementTextActive&quot;:{&quot;color&quot;:&quot;#F4F4F4&quot;,&quot;opacity&quot;:1,&quot;type&quot;:&quot;SOLID&quot;},&quot;asideElementTextHover&quot;:{&quot;color&quot;:&quot;#D8D8D8&quot;,&quot;opacity&quot;:1,&quot;type&quot;:&quot;SOLID&quot;},&quot;asideLogoBackground&quot;:{&quot;color&quot;:&quot;#202024&quot;,&quot;opacity&quot;:1,&quot;type&quot;:&quot;SOLID&quot;},&quot;pageBackground&quot;:{&quot;color&quot;:&quot;#DCDEE0&quot;,&quot;opacity&quot;:1,&quot;type&quot;:&quot;SOLID&quot;},&quot;playerBackground&quot;:{&quot;color&quot;:&quot;#353535&quot;,&quot;opacity&quot;:1,&quot;type&quot;:&quot;SOLID&quot;},&quot;playerText&quot;:{&quot;color&quot;:&quot;#C9C9C9&quot;,&quot;opacity&quot;:1,&quot;type&quot;:&quot;SOLID&quot;},&quot;primaryButtonBackground&quot;:{&quot;degree&quot;:90,&quot;gradient&quot;:[{&quot;color&quot;:&quot;#8643F4&quot;,&quot;opacity&quot;:1},{&quot;color&quot;:&quot;#E86657&quot;,&quot;opacity&quot;:1}],&quot;type&quot;:&quot;GRADIENT&quot;},&quot;primaryButtonBackgroundHover&quot;:{&quot;degree&quot;:90,&quot;gradient&quot;:[{&quot;color&quot;:&quot;#8643F4&quot;,&quot;opacity&quot;:1},{&quot;color&quot;:&quot;#74C5EA&quot;,&quot;opacity&quot;:1}],&quot;type&quot;:&quot;GRADIENT&quot;},&quot;primaryButtonBorder&quot;:{&quot;color&quot;:&quot;#8643F4&quot;,&quot;opacity&quot;:0,&quot;type&quot;:&quot;SOLID&quot;},&quot;primaryButtonBorderHover&quot;:{&quot;color&quot;:&quot;#EB4343&quot;,&quot;opacity&quot;:0,&quot;type&quot;:&quot;SOLID&quot;},&quot;primaryButtonText&quot;:{&quot;color&quot;:&quot;#FFFFFF&quot;,&quot;opacity&quot;:1,&quot;type&quot;:&quot;SOLID&quot;},&quot;primaryButtonTextHover&quot;:{&quot;color&quot;:&quot;#FFFFFF&quot;,&quot;opacity&quot;:1,&quot;type&quot;:&quot;SOLID&quot;},&quot;secondaryButtonBackground&quot;:{&quot;color&quot;:&quot;#353535&quot;,&quot;opacity&quot;:1,&quot;type&quot;:&quot;SOLID&quot;},&quot;secondaryButtonBackgroundHover&quot;:{&quot;color&quot;:&quot;#484848&quot;,&quot;opacity&quot;:1,&quot;type&quot;:&quot;SOLID&quot;},&quot;secondaryButtonBorder&quot;:{&quot;color&quot;:&quot;#4F4F4F&quot;,&quot;opacity&quot;:1,&quot;type&quot;:&quot;SOLID&quot;},&quot;secondaryButtonBorderHover&quot;:{&quot;color&quot;:&quot;#4F4F4F&quot;,&quot;opacity&quot;:0,&quot;type&quot;:&quot;SOLID&quot;},&quot;secondaryButtonText&quot;:{&quot;color&quot;:&quot;#C9C9C9&quot;,&quot;opacity&quot;:1,&quot;type&quot;:&quot;SOLID&quot;},&quot;secondaryButtonTextHover&quot;:{&quot;color&quot;:&quot;#DADADA&quot;,&quot;opacity&quot;:1,&quot;type&quot;:&quot;SOLID&quot;}},&quot;controlPanel&quot;:{&quot;navigationMode&quot;:&quot;bySlides&quot;,&quot;progressBar&quot;:{&quot;enabled&quot;:true,&quot;mode&quot;:&quot;presentationTimeline&quot;,&quot;showLabels&quot;:true,&quot;visible&quot;:true},&quot;showCCButton&quot;:true,&quot;showNextButton&quot;:true,&quot;showOutline&quot;:false,&quot;showPlayPause&quot;:true,&quot;showPlaybackRateButton&quot;:true,&quot;showPrevButton&quot;:true,&quot;showRewind&quot;:true,&quot;showSlideNumbers&quot;:true,&quot;showSlideOnlyButton&quot;:true,&quot;showSubtitlesButton&quot;:false,&quot;showTimer&quot;:false,&quot;showVolumeControl&quot;:true,&quot;visible&quot;:true},&quot;fontFamily&quot;:&quot;Microsoft Sans Serif&quot;,&quot;outlinePanel&quot;:{&quot;highlightViewedEntries&quot;:false,&quot;multilevel&quot;:true,&quot;numberEntries&quot;:true,&quot;search&quot;:true,&quot;thumbnails&quot;:true},&quot;rotatePromptEnabled&quot;:false,&quot;sidePanel&quot;:{&quot;showAtLeft&quot;:false,&quot;showLogo&quot;:false,&quot;showNotes&quot;:false,&quot;showOutline&quot;:false,&quot;showPresenterInfo&quot;:false,&quot;showPresenterVideo&quot;:false,&quot;visible&quot;:false},&quot;titlePanel&quot;:{&quot;buttons&quot;:[&quot;attachments&quot;,&quot;markerTools&quot;,&quot;presenterInfo&quot;,&quot;outline&quot;],&quot;buttonsAtLeft&quot;:false,&quot;courseTitleVisible&quot;:true,&quot;showLogo&quot;:false,&quot;visible&quot;:true},&quot;useAdaptiveSkin&quot;:false,&quot;version&quot;:&quot;1.4&quot;},&quot;skinMessages&quot;:{&quot;PB_ACCESSIBLE_ARIA_LABEL_BACK_TO_BEGIN&quot;:&quot;Go to the beginning of the slide&quot;,&quot;PB_ACCESSIBLE_ARIA_LABEL_BOTTOM_PANEL&quot;:&quot;Bottom Bar&quot;,&quot;PB_ACCESSIBLE_ARIA_LABEL_NAVIGATION_BUTTONS&quot;:&quot;Navigation buttons&quot;,&quot;PB_ACCESSIBLE_ARIA_LABEL_SETTINGS&quot;:&quot;Accessibility Settings&quot;,&quot;PB_ACCESSIBLE_ARIA_LABEL_SLIDE&quot;:&quot;Slide&quot;,&quot;PB_ACCESSIBLE_ARIA_LABEL_TOP_PANEL&quot;:&quot;Top Bar&quot;,&quot;PB_ACCESSIBLE_AUDIO_NARRATION_LABEL&quot;:&quot;Audio narration&quot;,&quot;PB_ACCESSIBLE_AUDIO_SUBTITLES_LABEL&quot;:&quot;Closed Captions&quot;,&quot;PB_ACCESSIBLE_NAVIGATION_NEXT_BUTTON&quot;:&quot;Next&quot;,&quot;PB_ACCESSIBLE_NAVIGATION_PREV_BUTTON&quot;:&quot;Previous&quot;,&quot;PB_ACCESSIBLE_SKIN_ENABLE_ACCESSIBILITY_MODE&quot;:&quot;Turn on accessibility mode&quot;,&quot;PB_ACCESSIBLE_SKIN_ENABLE_NORMAL_MODE&quot;:&quot;Turn off accessibility mode&quot;,&quot;PB_ACCESSIBLE_SKIN_PRESENTER_PHOTO&quot;:&quot;Presenter photo&quot;,&quot;PB_ACCESSIBLE_SLIDE_N_OF_COUNT&quot;:&quot;Slide %SLIDE_NUMBER% of %TOTAL_SLIDES%&quot;,&quot;PB_ACCESSIBLE_VIDEO_NARRATION_LABEL&quot;:&quot;Video narration&quot;,&quot;PB_ACCESSIBLE_WATERMARK_SKIN_CREATED_WITH&quot;:&quot;Created with iSpring evaluation version&quot;,&quot;PB_ATTACHMENT_DOCUMENT_SUBTITLE&quot;:&quot;Document&quot;,&quot;PB_ATTACHMENT_FILE_SUBTITLE&quot;:&quot;File&quot;,&quot;PB_ATTACHMENT_IMAGE_SUBTITLE&quot;:&quot;Picture&quot;,&quot;PB_ATTACHMENT_LINK_SUBTITLE&quot;:&quot;Link&quot;,&quot;PB_ATTACHMENT_VIDEO_SUBTITLE&quot;:&quot;Video&quot;,&quot;PB_BACK_TO_APP_BUTTON_LABEL&quot;:&quot;Go back&quot;,&quot;PB_CONTROL_PANEL_CLOSED_CAPTIONS&quot;:&quot;Notes&quot;,&quot;PB_CONTROL_PANEL_EXIT_FULL_SCREEN&quot;:&quot;Exit full screen&quot;,&quot;PB_CONTROL_PANEL_FULL_SCREEN&quot;:&quot;Full screen&quot;,&quot;PB_CONTROL_PANEL_NEXT&quot;:&quot;Next&quot;,&quot;PB_CONTROL_PANEL_OUTLINE&quot;:&quot;Outline&quot;,&quot;PB_CONTROL_PANEL_PREV&quot;:&quot;&quot;,&quot;PB_CONTROL_PANEL_REPLAY&quot;:&quot;Replay&quot;,&quot;PB_CONTROL_PANEL_SLIDE_COUNTER&quot;:&quot;%SLIDE_NUMBER% of %TOTAL_SLIDES%&quot;,&quot;PB_CONTROL_PANEL_SUBTITLES&quot;:&quot;Closed Captions&quot;,&quot;PB_CONTROL_PANEL_VOLUME_CONTROL&quot;:&quot;Volume&quot;,&quot;PB_CURRENT_SLIDE_IS_NOT_COMPLETED&quot;:&quot;Complete the slide to go to the next one.&quot;,&quot;PB_DOMAIN_RESTRICTION&quot;:&quot;Sorry, the content author has prohibited sharing the presentation on this domain.&quot;,&quot;PB_DRAWING_TOOLS_END_DRAWING&quot;:&quot;Finish drawing&quot;,&quot;PB_DRAWING_TOOLS_ERASER&quot;:&quot;Eraser&quot;,&quot;PB_DRAWING_TOOLS_ERASE_ALL&quot;:&quot;Erase all&quot;,&quot;PB_DRAWING_TOOLS_HIGHLIGHTER&quot;:&quot;Highlighter&quot;,&quot;PB_DRAWING_TOOLS_PEN&quot;:&quot;Pen&quot;,&quot;PB_ENTER_PASSWORD&quot;:&quot;Enter the password to view this presentation.&quot;,&quot;PB_INCORRECT_PASSWORD&quot;:&quot;Incorrect password.&quot;,&quot;PB_INTERACTION_SLIDE_WINDOW_TEXT&quot;:&quot;To advance to the next slide, complete this interaction.&quot;,&quot;PB_MESSAGE_BOX_NO&quot;:&quot;No&quot;,&quot;PB_MESSAGE_BOX_OK&quot;:&quot;OK&quot;,&quot;PB_MESSAGE_BOX_YES&quot;:&quot;Yes&quot;,&quot;PB_NAVIGATION_IS_RESTRICTED&quot;:&quot;You can only view slides in order.&quot;,&quot;PB_NAVIGATION_IS_SEQUENTIAL&quot;:&quot;You can only view slides in order.&quot;,&quot;PB_PLAYBACK_RATE_MENU_CAPTION&quot;:&quot;Speed&quot;,&quot;PB_POPUP_ROTATE_SCREEN_PROMPT_LANDSCAPE&quot;:&quot;Rotate your device to landscape mode&quot;,&quot;PB_POPUP_ROTATE_SCREEN_PROMPT_PORTRAIT&quot;:&quot;Rotate your device to the portrait mode&quot;,&quot;PB_PRECEDING_QUIZ_FAILED_WINDOW_TEXT&quot;:&quot;You haven't passed the quiz on slide %SLIDE_INDEX% and can't advance to the next slide.&quot;,&quot;PB_PRECEDING_QUIZ_NOT_COMPLETED_WINDOW_TEXT&quot;:&quot;To advance to this slide, complete the quiz on slide %SLIDE_INDEX%.&quot;,&quot;PB_PRECEDING_QUIZ_NOT_PASSED_WINDOW_TEXT&quot;:&quot;To advance to this slide, you need to pass the quiz on slide %SLIDE_INDEX%.&quot;,&quot;PB_PRECEDING_SCENARIO_FAILED_WINDOW_TEXT&quot;:&quot;You haven't passed the role-play on slide %SLIDE_INDEX% and can't advance to the next slide.&quot;,&quot;PB_PRECEDING_SCENARIO_NOT_COMPLETED_WINDOW_TEXT&quot;:&quot;To advance to this slide, complete the role-play on slide %SLIDE_INDEX%.&quot;,&quot;PB_PRECEDING_SCENARIO_NOT_PASSED_WINDOW_TEXT&quot;:&quot;To advance to this slide, you need to pass the role-play on slide %SLIDE_INDEX%.&quot;,&quot;PB_PRESENTER_COLLAPSE_BIO&quot;:&quot;Show less&quot;,&quot;PB_PRESENTER_EMAIL&quot;:&quot;Email&quot;,&quot;PB_PRESENTER_EXPAND_BIO&quot;:&quot;Show more&quot;,&quot;PB_PRESENTER_NO_INFO&quot;:&quot;No presenter info.&quot;,&quot;PB_PRESENTER_WEBSITE&quot;:&quot;Website&quot;,&quot;PB_QUIZ_SLIDE_WINDOW_TEXT&quot;:&quot;To advance to the next slide, complete this quiz.&quot;,&quot;PB_RATE_MENU_CAPTION&quot;:&quot;Speed&quot;,&quot;PB_RATE_MENU_DEFAULT_RATE&quot;:&quot;Normal&quot;,&quot;PB_RESUME_PRESENTATION_WINDOW_TEXT&quot;:&quot;Do you want to resume where you left off?&quot;,&quot;PB_SCENARIO_SLIDE_WINDOW_TEXT&quot;:&quot;To advance to the next slide, complete this role-play.&quot;,&quot;PB_SEARCH_CANCEL&quot;:&quot;Cancel&quot;,&quot;PB_SEARCH_NO_RESULTS_LABEL&quot;:&quot;No matches found.&quot;,&quot;PB_SEARCH_PANEL_DEFAULT_TEXT&quot;:&quot;Search…&quot;,&quot;PB_SEARCH_RESULTS_LABEL&quot;:&quot;Search results&quot;,&quot;PB_SEARCH_RESULT_IN_NOTES&quot;:&quot;in notes&quot;,&quot;PB_SEARCH_RESULT_IN_TEXT_LABEL&quot;:&quot;in slide&quot;,&quot;PB_SUBTITLES_MENU_CAPTION&quot;:&quot;Subtitles&quot;,&quot;PB_SUBTITLES_OFF&quot;:&quot;Off&quot;,&quot;PB_TAB_NOTES_LABEL&quot;:&quot;Notes&quot;,&quot;PB_TAB_OUTLINE_LABEL&quot;:&quot;Slides&quot;,&quot;PB_TIME_RESTRICTION&quot;:&quot;Sorry, the content author has prohibited viewing the presentation at this time.&quot;,&quot;PB_TITLE_PANEL_ATTACHMENTS&quot;:&quot;Resources&quot;,&quot;PB_TITLE_PANEL_MARKER_TOOLS&quot;:&quot;Drawing&quot;,&quot;PB_TITLE_PANEL_NOTES&quot;:&quot;Notes&quot;,&quot;PB_TITLE_PANEL_OUTLINE&quot;:&quot;Outline&quot;,&quot;PB_TITLE_PANEL_PRESENTER_INFO&quot;:&quot;Presenter Info&quot;,&quot;PB_TREE_CONTROL_LOADING&quot;:&quot;Loading…&quot;,&quot;PB_VIDEO_WINDOW_NO_VIDEO_LABEL&quot;:&quot;No video&quot;},&quot;playbackAndNavigationSettings&quot;:{&quot;autoStart&quot;:true,&quot;saveAnimationStates&quot;:true,&quot;loopPresentation&quot;:false,&quot;autoPlayAnimations&quot;:false,&quot;autoPlayAnimationsTime&quot;:1,&quot;navigationType&quot;:&quot;FREE&quot;,&quot;resumeMode&quot;:&quot;PROMPT&quot;,&quot;enableKeyboardNavigation&quot;:true},&quot;keyboardSettings&quot;:&quot;&quot;,&quot;skinVersion&quot;:5,&quot;skinCompatibleVersion&quot;:0,&quot;publishSettings&quot;:{&quot;backgroundColor&quot;:&quot;#DCDEE0&quot;,&quot;playerDimensions&quot;:{&quot;height&quot;:144,&quot;width&quot;:16},&quot;playerModule&quot;:&quot;UniversalHtml&quot;,&quot;presentationContent&quot;:{&quot;metadata&quot;:{&quot;references&quot;:true,&quot;texts&quot;:[&quot;DT_COURSE_TITLE&quot;,&quot;DT_REFERENCE_URL&quot;,&quot;DT_REFERENCE_TITLE&quot;,&quot;DT_PRESENTER_BIO&quot;,&quot;DT_PRESENTER_EMAIL&quot;,&quot;DT_PRESENTER_WEBSITE&quot;,&quot;DT_PRESENTER_PHONE&quot;,&quot;DT_PRESENTER_TITLE&quot;,&quot;DT_PRESENTER_NAME&quot;,&quot;DT_SLIDE_NOTES_HTML&quot;,&quot;DT_SLIDE_NOTES_TEXT&quot;,&quot;DT_SLIDE_TITLE&quot;,&quot;DT_SLIDE_NOTES_TEXT&quot;,&quot;DT_SLIDE_TEXT&quot;,&quot;DT_HYPERLINK_TOOLTIP&quot;]},&quot;resources&quot;:{&quot;attachments&quot;:true,&quot;fonts&quot;:[{&quot;charsets&quot;:{&quot;dynamicFormatted&quot;:[&quot;DCT_SLIDE_NOTES_TEXT&quot;,&quot;DCT_INTERACTIVITY_TEXT&quot;,&quot;DCT_INTERACTIVITY_SEMIBOLD_TEXT&quot;],&quot;dynamicPlain&quot;:[&quot;DCT_COURSE_TITLE&quot;,&quot;DCT_REFERENCE_URL&quot;,&quot;DCT_REFERENCE_TITLE&quot;,&quot;DCT_PRESENTER_BIO&quot;,&quot;DCT_PRESENTER_EMAIL&quot;,&quot;DCT_PRESENTER_WEBSITE&quot;,&quot;DCT_PRESENTER_PHONE&quot;,&quot;DCT_PRESENTER_TITLE&quot;,&quot;DCT_PRESENTER_NAME&quot;,&quot;DCT_SLIDE_TITLE&quot;,&quot;DCT_SLIDE_NOTES_TEXT&quot;,&quot;DCT_SLIDE_TEXT&quot;,&quot;DCT_HYPERLINK_TOOLTIP&quot;],&quot;static&quot;:[&quot;Resources&quot;,&quot;Link&quot;,&quot;Picture&quot;,&quot;Video&quot;,&quot;Document&quot;,&quot;File&quot;,&quot;Drawing&quot;,&quot;Pen&quot;,&quot;Highlighter&quot;,&quot;Eraser&quot;,&quot;Erase all&quot;,&quot;Finish drawing&quot;,&quot;Email&quot;,&quot;Website&quot;,&quot;Show more&quot;,&quot;Show less&quot;,&quot;Presenter Info&quot;,&quot;1234567890&quot;,&quot;Slides&quot;,&quot;Outline&quot;,&quot;Search…&quot;,&quot;in slide&quot;,&quot;Search results&quot;,&quot;No matches found.&quot;,&quot;in notes&quot;,&quot;Cancel&quot;,&quot;Next&quot;,&quot;Full screen&quot;,&quot;Exit full screen&quot;,&quot;0123456789.,x&quot;,&quot;Speed&quot;,&quot;Normal&quot;,&quot;Volume&quot;,&quot;Replay&quot;,&quot;Notes&quot;,&quot;%SLIDE_NUMBER% of %TOTAL_SLIDES%&quot;,&quot;Yes&quot;,&quot;No&quot;,&quot;OK&quot;,&quot;Do you want to resume where you left off?&quot;,&quot;Rotate your device to the portrait mode&quot;,&quot;Rotate your device to landscape mode&quot;,&quot;Complete the slide to go to the next one.&quot;,&quot;You can only view slides in order.&quot;,&quot;To advance to the next slide, complete this quiz.&quot;,&quot;To advance to this slide, you need to pass the quiz on slide %SLIDE_INDEX%.&quot;,&quot;To advance to this slide, complete the quiz on slide %SLIDE_INDEX%.&quot;,&quot;You haven't passed the quiz on slide %SLIDE_INDEX% and can't advance to the next slide.&quot;,&quot;To advance to the next slide, complete this interaction.&quot;,&quot;To advance to the next slide, complete this role-play.&quot;,&quot;To advance to this slide, you need to pass the role-play on slide %SLIDE_INDEX%.&quot;,&quot;To advance to this slide, complete the role-play on slide %SLIDE_INDEX%.&quot;,&quot;You haven't passed the role-play on slide %SLIDE_INDEX% and can't advance to the next slide.&quot;,&quot;Enter the password to view this presentation.&quot;,&quot;Incorrect password.&quot;,&quot;Sorry, the content author has prohibited sharing the presentation on this domain.&quot;,&quot;Sorry, the content author has prohibited viewing the presentation at this time.&quot;,&quot;Go back&quot;]},&quot;embedName&quot;:&quot;PFn&quot;,&quot;fontFamily&quot;:&quot;Microsoft Sans Serif&quot;,&quot;isBold&quot;:false,&quot;isItalic&quot;:false,&quot;isSemibold&quot;:false,&quot;substituteFontFamily&quot;:&quot;Arial&quot;},{&quot;charsets&quot;:{&quot;dynamicFormatted&quot;:[&quot;DCT_SLIDE_NOTES_TEXT&quot;,&quot;DCT_INTERACTIVITY_TEXT&quot;,&quot;DCT_INTERACTIVITY_SEMIBOLD_TEXT&quot;],&quot;dynamicPlain&quot;:[&quot;DCT_COURSE_TITLE&quot;,&quot;DCT_REFERENCE_URL&quot;,&quot;DCT_REFERENCE_TITLE&quot;,&quot;DCT_PRESENTER_BIO&quot;,&quot;DCT_PRESENTER_EMAIL&quot;,&quot;DCT_PRESENTER_WEBSITE&quot;,&quot;DCT_PRESENTER_PHONE&quot;,&quot;DCT_PRESENTER_TITLE&quot;,&quot;DCT_PRESENTER_NAME&quot;,&quot;DCT_SLIDE_TITLE&quot;,&quot;DCT_SLIDE_NOTES_TEXT&quot;,&quot;DCT_SLIDE_TEXT&quot;,&quot;DCT_HYPERLINK_TOOLTIP&quot;],&quot;static&quot;:[&quot;Resources&quot;,&quot;Link&quot;,&quot;Picture&quot;,&quot;Video&quot;,&quot;Document&quot;,&quot;File&quot;,&quot;Drawing&quot;,&quot;Pen&quot;,&quot;Highlighter&quot;,&quot;Eraser&quot;,&quot;Erase all&quot;,&quot;Finish drawing&quot;,&quot;Email&quot;,&quot;Website&quot;,&quot;Show more&quot;,&quot;Show less&quot;,&quot;Presenter Info&quot;,&quot;1234567890&quot;,&quot;Slides&quot;,&quot;Outline&quot;,&quot;Search…&quot;,&quot;in slide&quot;,&quot;Search results&quot;,&quot;No matches found.&quot;,&quot;in notes&quot;,&quot;Cancel&quot;,&quot;Next&quot;,&quot;Full screen&quot;,&quot;Exit full screen&quot;,&quot;0123456789.,x&quot;,&quot;Speed&quot;,&quot;Normal&quot;,&quot;Volume&quot;,&quot;Replay&quot;,&quot;Notes&quot;,&quot;%SLIDE_NUMBER% of %TOTAL_SLIDES%&quot;,&quot;Yes&quot;,&quot;No&quot;,&quot;OK&quot;,&quot;Do you want to resume where you left off?&quot;,&quot;Rotate your device to the portrait mode&quot;,&quot;Rotate your device to landscape mode&quot;,&quot;Complete the slide to go to the next one.&quot;,&quot;You can only view slides in order.&quot;,&quot;To advance to the next slide, complete this quiz.&quot;,&quot;To advance to this slide, you need to pass the quiz on slide %SLIDE_INDEX%.&quot;,&quot;To advance to this slide, complete the quiz on slide %SLIDE_INDEX%.&quot;,&quot;You haven't passed the quiz on slide %SLIDE_INDEX% and can't advance to the next slide.&quot;,&quot;To advance to the next slide, complete this interaction.&quot;,&quot;To advance to the next slide, complete this role-play.&quot;,&quot;To advance to this slide, you need to pass the role-play on slide %SLIDE_INDEX%.&quot;,&quot;To advance to this slide, complete the role-play on slide %SLIDE_INDEX%.&quot;,&quot;You haven't passed the role-play on slide %SLIDE_INDEX% and can't advance to the next slide.&quot;,&quot;Enter the password to view this presentation.&quot;,&quot;Incorrect password.&quot;,&quot;Sorry, the content author has prohibited sharing the presentation on this domain.&quot;,&quot;Sorry, the content author has prohibited viewing the presentation at this time.&quot;,&quot;Go back&quot;]},&quot;embedName&quot;:&quot;PFnb&quot;,&quot;fontFamily&quot;:&quot;Microsoft Sans Serif&quot;,&quot;isBold&quot;:true,&quot;isItalic&quot;:false,&quot;isSemibold&quot;:false,&quot;substituteFontFamily&quot;:&quot;Arial&quot;},{&quot;charsets&quot;:{&quot;dynamicFormatted&quot;:[&quot;DCT_SLIDE_NOTES_TEXT&quot;,&quot;DCT_INTERACTIVITY_TEXT&quot;,&quot;DCT_INTERACTIVITY_SEMIBOLD_TEXT&quot;],&quot;dynamicPlain&quot;:[&quot;DCT_COURSE_TITLE&quot;,&quot;DCT_REFERENCE_URL&quot;,&quot;DCT_REFERENCE_TITLE&quot;,&quot;DCT_PRESENTER_BIO&quot;,&quot;DCT_PRESENTER_EMAIL&quot;,&quot;DCT_PRESENTER_WEBSITE&quot;,&quot;DCT_PRESENTER_PHONE&quot;,&quot;DCT_PRESENTER_TITLE&quot;,&quot;DCT_PRESENTER_NAME&quot;,&quot;DCT_SLIDE_TITLE&quot;,&quot;DCT_SLIDE_NOTES_TEXT&quot;,&quot;DCT_SLIDE_TEXT&quot;,&quot;DCT_HYPERLINK_TOOLTIP&quot;],&quot;static&quot;:[&quot;Resources&quot;,&quot;Link&quot;,&quot;Picture&quot;,&quot;Video&quot;,&quot;Document&quot;,&quot;File&quot;,&quot;Drawing&quot;,&quot;Pen&quot;,&quot;Highlighter&quot;,&quot;Eraser&quot;,&quot;Erase all&quot;,&quot;Finish drawing&quot;,&quot;Email&quot;,&quot;Website&quot;,&quot;Show more&quot;,&quot;Show less&quot;,&quot;Presenter Info&quot;,&quot;1234567890&quot;,&quot;Slides&quot;,&quot;Outline&quot;,&quot;Search…&quot;,&quot;in slide&quot;,&quot;Search results&quot;,&quot;No matches found.&quot;,&quot;in notes&quot;,&quot;Cancel&quot;,&quot;Next&quot;,&quot;Full screen&quot;,&quot;Exit full screen&quot;,&quot;0123456789.,x&quot;,&quot;Speed&quot;,&quot;Normal&quot;,&quot;Volume&quot;,&quot;Replay&quot;,&quot;Notes&quot;,&quot;%SLIDE_NUMBER% of %TOTAL_SLIDES%&quot;,&quot;Yes&quot;,&quot;No&quot;,&quot;OK&quot;,&quot;Do you want to resume where you left off?&quot;,&quot;Rotate your device to the portrait mode&quot;,&quot;Rotate your device to landscape mode&quot;,&quot;Complete the slide to go to the next one.&quot;,&quot;You can only view slides in order.&quot;,&quot;To advance to the next slide, complete this quiz.&quot;,&quot;To advance to this slide, you need to pass the quiz on slide %SLIDE_INDEX%.&quot;,&quot;To advance to this slide, complete the quiz on slide %SLIDE_INDEX%.&quot;,&quot;You haven't passed the quiz on slide %SLIDE_INDEX% and can't advance to the next slide.&quot;,&quot;To advance to the next slide, complete this interaction.&quot;,&quot;To advance to the next slide, complete this role-play.&quot;,&quot;To advance to this slide, you need to pass the role-play on slide %SLIDE_INDEX%.&quot;,&quot;To advance to this slide, complete the role-play on slide %SLIDE_INDEX%.&quot;,&quot;You haven't passed the role-play on slide %SLIDE_INDEX% and can't advance to the next slide.&quot;,&quot;Enter the password to view this presentation.&quot;,&quot;Incorrect password.&quot;,&quot;Sorry, the content author has prohibited sharing the presentation on this domain.&quot;,&quot;Sorry, the content author has prohibited viewing the presentation at this time.&quot;,&quot;Go back&quot;]},&quot;embedName&quot;:&quot;PFni&quot;,&quot;fontFamily&quot;:&quot;Microsoft Sans Serif&quot;,&quot;isBold&quot;:false,&quot;isItalic&quot;:true,&quot;isSemibold&quot;:false,&quot;substituteFontFamily&quot;:&quot;Arial&quot;},{&quot;charsets&quot;:{&quot;dynamicFormatted&quot;:[&quot;DCT_SLIDE_NOTES_TEXT&quot;,&quot;DCT_INTERACTIVITY_TEXT&quot;,&quot;DCT_INTERACTIVITY_SEMIBOLD_TEXT&quot;],&quot;dynamicPlain&quot;:[&quot;DCT_COURSE_TITLE&quot;,&quot;DCT_REFERENCE_URL&quot;,&quot;DCT_REFERENCE_TITLE&quot;,&quot;DCT_PRESENTER_BIO&quot;,&quot;DCT_PRESENTER_EMAIL&quot;,&quot;DCT_PRESENTER_WEBSITE&quot;,&quot;DCT_PRESENTER_PHONE&quot;,&quot;DCT_PRESENTER_TITLE&quot;,&quot;DCT_PRESENTER_NAME&quot;,&quot;DCT_SLIDE_TITLE&quot;,&quot;DCT_SLIDE_NOTES_TEXT&quot;,&quot;DCT_SLIDE_TEXT&quot;,&quot;DCT_HYPERLINK_TOOLTIP&quot;],&quot;static&quot;:[&quot;Resources&quot;,&quot;Link&quot;,&quot;Picture&quot;,&quot;Video&quot;,&quot;Document&quot;,&quot;File&quot;,&quot;Drawing&quot;,&quot;Pen&quot;,&quot;Highlighter&quot;,&quot;Eraser&quot;,&quot;Erase all&quot;,&quot;Finish drawing&quot;,&quot;Email&quot;,&quot;Website&quot;,&quot;Show more&quot;,&quot;Show less&quot;,&quot;Presenter Info&quot;,&quot;1234567890&quot;,&quot;Slides&quot;,&quot;Outline&quot;,&quot;Search…&quot;,&quot;in slide&quot;,&quot;Search results&quot;,&quot;No matches found.&quot;,&quot;in notes&quot;,&quot;Cancel&quot;,&quot;Next&quot;,&quot;Full screen&quot;,&quot;Exit full screen&quot;,&quot;0123456789.,x&quot;,&quot;Speed&quot;,&quot;Normal&quot;,&quot;Volume&quot;,&quot;Replay&quot;,&quot;Notes&quot;,&quot;%SLIDE_NUMBER% of %TOTAL_SLIDES%&quot;,&quot;Yes&quot;,&quot;No&quot;,&quot;OK&quot;,&quot;Do you want to resume where you left off?&quot;,&quot;Rotate your device to the portrait mode&quot;,&quot;Rotate your device to landscape mode&quot;,&quot;Complete the slide to go to the next one.&quot;,&quot;You can only view slides in order.&quot;,&quot;To advance to the next slide, complete this quiz.&quot;,&quot;To advance to this slide, you need to pass the quiz on slide %SLIDE_INDEX%.&quot;,&quot;To advance to this slide, complete the quiz on slide %SLIDE_INDEX%.&quot;,&quot;You haven't passed the quiz on slide %SLIDE_INDEX% and can't advance to the next slide.&quot;,&quot;To advance to the next slide, complete this interaction.&quot;,&quot;To advance to the next slide, complete this role-play.&quot;,&quot;To advance to this slide, you need to pass the role-play on slide %SLIDE_INDEX%.&quot;,&quot;To advance to this slide, complete the role-play on slide %SLIDE_INDEX%.&quot;,&quot;You haven't passed the role-play on slide %SLIDE_INDEX% and can't advance to the next slide.&quot;,&quot;Enter the password to view this presentation.&quot;,&quot;Incorrect password.&quot;,&quot;Sorry, the content author has prohibited sharing the presentation on this domain.&quot;,&quot;Sorry, the content author has prohibited viewing the presentation at this time.&quot;,&quot;Go back&quot;]},&quot;embedName&quot;:&quot;PFnbi&quot;,&quot;fontFamily&quot;:&quot;Microsoft Sans Serif&quot;,&quot;isBold&quot;:true,&quot;isItalic&quot;:true,&quot;isSemibold&quot;:false,&quot;substituteFontFamily&quot;:&quot;Arial&quot;},{&quot;charsets&quot;:{&quot;dynamicFormatted&quot;:[&quot;DCT_SLIDE_NOTES_TEXT&quot;,&quot;DCT_INTERACTIVITY_TEXT&quot;,&quot;DCT_INTERACTIVITY_SEMIBOLD_TEXT&quot;],&quot;dynamicPlain&quot;:[&quot;DCT_COURSE_TITLE&quot;,&quot;DCT_REFERENCE_URL&quot;,&quot;DCT_REFERENCE_TITLE&quot;,&quot;DCT_PRESENTER_BIO&quot;,&quot;DCT_PRESENTER_EMAIL&quot;,&quot;DCT_PRESENTER_WEBSITE&quot;,&quot;DCT_PRESENTER_PHONE&quot;,&quot;DCT_PRESENTER_TITLE&quot;,&quot;DCT_PRESENTER_NAME&quot;,&quot;DCT_SLIDE_TITLE&quot;,&quot;DCT_SLIDE_NOTES_TEXT&quot;,&quot;DCT_SLIDE_TEXT&quot;,&quot;DCT_HYPERLINK_TOOLTIP&quot;],&quot;static&quot;:[&quot;Resources&quot;,&quot;Link&quot;,&quot;Picture&quot;,&quot;Video&quot;,&quot;Document&quot;,&quot;File&quot;,&quot;Drawing&quot;,&quot;Pen&quot;,&quot;Highlighter&quot;,&quot;Eraser&quot;,&quot;Erase all&quot;,&quot;Finish drawing&quot;,&quot;Email&quot;,&quot;Website&quot;,&quot;Show more&quot;,&quot;Show less&quot;,&quot;Presenter Info&quot;,&quot;1234567890&quot;,&quot;Slides&quot;,&quot;Outline&quot;,&quot;Search…&quot;,&quot;in slide&quot;,&quot;Search results&quot;,&quot;No matches found.&quot;,&quot;in notes&quot;,&quot;Cancel&quot;,&quot;Next&quot;,&quot;Full screen&quot;,&quot;Exit full screen&quot;,&quot;0123456789.,x&quot;,&quot;Speed&quot;,&quot;Normal&quot;,&quot;Volume&quot;,&quot;Replay&quot;,&quot;Notes&quot;,&quot;%SLIDE_NUMBER% of %TOTAL_SLIDES%&quot;,&quot;Yes&quot;,&quot;No&quot;,&quot;OK&quot;,&quot;Do you want to resume where you left off?&quot;,&quot;Rotate your device to the portrait mode&quot;,&quot;Rotate your device to landscape mode&quot;,&quot;Complete the slide to go to the next one.&quot;,&quot;You can only view slides in order.&quot;,&quot;To advance to the next slide, complete this quiz.&quot;,&quot;To advance to this slide, you need to pass the quiz on slide %SLIDE_INDEX%.&quot;,&quot;To advance to this slide, complete the quiz on slide %SLIDE_INDEX%.&quot;,&quot;You haven't passed the quiz on slide %SLIDE_INDEX% and can't advance to the next slide.&quot;,&quot;To advance to the next slide, complete this interaction.&quot;,&quot;To advance to the next slide, complete this role-play.&quot;,&quot;To advance to this slide, you need to pass the role-play on slide %SLIDE_INDEX%.&quot;,&quot;To advance to this slide, complete the role-play on slide %SLIDE_INDEX%.&quot;,&quot;You haven't passed the role-play on slide %SLIDE_INDEX% and can't advance to the next slide.&quot;,&quot;Enter the password to view this presentation.&quot;,&quot;Incorrect password.&quot;,&quot;Sorry, the content author has prohibited sharing the presentation on this domain.&quot;,&quot;Sorry, the content author has prohibited viewing the presentation at this time.&quot;,&quot;Go back&quot;]},&quot;embedName&quot;:&quot;PFnsb&quot;,&quot;fontFamily&quot;:&quot;Microsoft Sans Serif&quot;,&quot;isBold&quot;:false,&quot;isItalic&quot;:false,&quot;isSemibold&quot;:true,&quot;substituteFontFamily&quot;:&quot;Arial&quot;},{&quot;charsets&quot;:{&quot;dynamicFormatted&quot;:[&quot;DCT_SLIDE_NOTES_TEXT&quot;,&quot;DCT_INTERACTIVITY_TEXT&quot;,&quot;DCT_INTERACTIVITY_SEMIBOLD_TEXT&quot;],&quot;dynamicPlain&quot;:[&quot;DCT_COURSE_TITLE&quot;,&quot;DCT_REFERENCE_URL&quot;,&quot;DCT_REFERENCE_TITLE&quot;,&quot;DCT_PRESENTER_BIO&quot;,&quot;DCT_PRESENTER_EMAIL&quot;,&quot;DCT_PRESENTER_WEBSITE&quot;,&quot;DCT_PRESENTER_PHONE&quot;,&quot;DCT_PRESENTER_TITLE&quot;,&quot;DCT_PRESENTER_NAME&quot;,&quot;DCT_SLIDE_TITLE&quot;,&quot;DCT_SLIDE_NOTES_TEXT&quot;,&quot;DCT_SLIDE_TEXT&quot;,&quot;DCT_HYPERLINK_TOOLTIP&quot;],&quot;static&quot;:[&quot;Resources&quot;,&quot;Link&quot;,&quot;Picture&quot;,&quot;Video&quot;,&quot;Document&quot;,&quot;File&quot;,&quot;Drawing&quot;,&quot;Pen&quot;,&quot;Highlighter&quot;,&quot;Eraser&quot;,&quot;Erase all&quot;,&quot;Finish drawing&quot;,&quot;Email&quot;,&quot;Website&quot;,&quot;Show more&quot;,&quot;Show less&quot;,&quot;Presenter Info&quot;,&quot;1234567890&quot;,&quot;Slides&quot;,&quot;Outline&quot;,&quot;Search…&quot;,&quot;in slide&quot;,&quot;Search results&quot;,&quot;No matches found.&quot;,&quot;in notes&quot;,&quot;Cancel&quot;,&quot;Next&quot;,&quot;Full screen&quot;,&quot;Exit full screen&quot;,&quot;0123456789.,x&quot;,&quot;Speed&quot;,&quot;Normal&quot;,&quot;Volume&quot;,&quot;Replay&quot;,&quot;Notes&quot;,&quot;%SLIDE_NUMBER% of %TOTAL_SLIDES%&quot;,&quot;Yes&quot;,&quot;No&quot;,&quot;OK&quot;,&quot;Do you want to resume where you left off?&quot;,&quot;Rotate your device to the portrait mode&quot;,&quot;Rotate your device to landscape mode&quot;,&quot;Complete the slide to go to the next one.&quot;,&quot;You can only view slides in order.&quot;,&quot;To advance to the next slide, complete this quiz.&quot;,&quot;To advance to this slide, you need to pass the quiz on slide %SLIDE_INDEX%.&quot;,&quot;To advance to this slide, complete the quiz on slide %SLIDE_INDEX%.&quot;,&quot;You haven't passed the quiz on slide %SLIDE_INDEX% and can't advance to the next slide.&quot;,&quot;To advance to the next slide, complete this interaction.&quot;,&quot;To advance to the next slide, complete this role-play.&quot;,&quot;To advance to this slide, you need to pass the role-play on slide %SLIDE_INDEX%.&quot;,&quot;To advance to this slide, complete the role-play on slide %SLIDE_INDEX%.&quot;,&quot;You haven't passed the role-play on slide %SLIDE_INDEX% and can't advance to the next slide.&quot;,&quot;Enter the password to view this presentation.&quot;,&quot;Incorrect password.&quot;,&quot;Sorry, the content author has prohibited sharing the presentation on this domain.&quot;,&quot;Sorry, the content author has prohibited viewing the presentation at this time.&quot;,&quot;Go back&quot;]},&quot;embedName&quot;:&quot;PFnsbi&quot;,&quot;fontFamily&quot;:&quot;Microsoft Sans Serif&quot;,&quot;isBold&quot;:false,&quot;isItalic&quot;:true,&quot;isSemibold&quot;:true,&quot;substituteFontFamily&quot;:&quot;Arial&quot;}],&quot;interactivity&quot;:{&quot;fullSupport&quot;:true},&quot;presenterPhotos&quot;:{&quot;enlargeToFit&quot;:false,&quot;height&quot;:105,&quot;jpegQuality&quot;:100,&quot;keepAspectRatio&quot;:true,&quot;width&quot;:94},&quot;slideThumbnails&quot;:{&quot;enlargeToFit&quot;:false,&quot;height&quot;:59,&quot;jpegQuality&quot;:100,&quot;keepAspectRatio&quot;:true,&quot;width&quot;:78}}}},&quot;ceipData&quot;:{&quot;enableMiniSkinCustomization&quot;:true,&quot;playerLayout&quot;:&quot;builtin.fullPlayer&quot;,&quot;playerLayoutFooter&quot;:&quot;playAndPause,acceleration,notes,replay,fullscreen,volumeControl,slideNumber,goToPrev,goToNext&quot;,&quot;playerLayoutHeader&quot;:&quot;resources,markerTools,presenterInfo,outline,title&quot;,&quot;playerLayoutHeaderButtonsPosition&quot;:&quot;right&quot;,&quot;playerLayoutOutline&quot;:&quot;enableSearch,showThumbnails,showSlideNumber,enableMultilevel&quot;,&quot;playerLayoutProgress&quot;:&quot;enabledNavigation,showLabels&quot;,&quot;playerLayoutProgressMode&quot;:&quot;presentationTimeline&quot;,&quot;playerLayoutSidebar&quot;:&quot;&quot;,&quot;playerLayoutSidebarPosition&quot;:&quot;&quot;,&quot;playerMessages&quot;:&quot;builtin.en&quot;,&quot;playerNavigationAutoStart&quot;:true,&quot;playerNavigationEnableKeyboardNavigation&quot;:true,&quot;playerNavigationMode&quot;:&quot;bySlides&quot;,&quot;playerNavigationOnRestart&quot;:&quot;prompt&quot;,&quot;playerNavigationSaveAnimationStates&quot;:true,&quot;playerNavigationType&quot;:&quot;free&quot;,&quot;playerTheme&quot;:&quot;custom&quot;,&quot;playerThemeBorderRadius&quot;:20,&quot;playerThemeColorScheme&quot;:&quot;builtin.darkRedGradient&quot;,&quot;playerThemeFont&quot;:&quot;Microsoft Sans Serif&quot;}}}"/>
  <p:tag name="ISPRING-SUITE_ISPRING_CURRENT_PLAYER_ID" val="universal"/>
  <p:tag name="ISPRING_PRESENTATION_COURSE_TITLE" val="CS 600 sample"/>
  <p:tag name="FLASHSPRING_ZOOM_TAG" val="74"/>
  <p:tag name="ISPRING_LMS_API_VERSION" val="SCORM 2004 (4th edition)"/>
  <p:tag name="ISPRING_ULTRA_SCORM_COURSE_ID" val="CFAD0347-76F3-4883-BAFB-15322D9E38D1"/>
  <p:tag name="ISPRING_CMI5_LAUNCH_METHOD" val="any window"/>
  <p:tag name="ISPRING_SCORM_REPORT_STATUS" val="0"/>
  <p:tag name="ISPRINGCLOUDFOLDERID" val="1"/>
  <p:tag name="ISPRINGONLINEFOLDERID" val="1"/>
  <p:tag name="ISPRING-SUITE_ISPRING_GRADING_SETTINGS_V2" val="{&quot;alternatives&quot;:[{&quot;slides&quot;:{&quot;slides_to_view&quot;:{&quot;percent&quot;:100},&quot;group_id&quot;:&quot;all slides&quot;},&quot;pass_materials&quot;:{&quot;slide_uids&quot;:[&quot;{ACCA3D93-ED80-467C-958F-0C60DF375AE0}&quot;]},&quot;name&quot;:&quot;&quot;}]}"/>
  <p:tag name="ISPRING-SUITE_ISPRING_CURRENT_GRADING_VERSION" val="v2"/>
  <p:tag name="ISPRING_RESOURCE_FOLDER" val="D:\Jeremy Haecker folder\Google Website 2026\iSpring LO\MSAI CS 600 LO\CS 600 sample"/>
  <p:tag name="ISPRING_PRESENTATION_PATH" val="D:\Jeremy Haecker folder\Google Website 2026\iSpring LO\MSAI CS 600 LO\CS 600 sample.pptx"/>
  <p:tag name="ISPRING_ULTRA_SCORM_COURCE_TITLE" val="CS 600 Foundations of AI"/>
  <p:tag name="ISPRING_OUTPUT_FOLDER" val="[[&quot;Zmex{E6D9D27A-EFE4-46CD-A1F5-67E58E53D7DE}&quot;,&quot;D:\\Jeremy Haecker folder\\Google Website 2026\\iSpring LO\\MSAI CS 600 LO&quot;]]"/>
  <p:tag name="ISPRING_PRESENTATION_TITLE" val="CS 600 Foundations of AI"/>
  <p:tag name="ISPRING_SCREEN_RECS_UPDATED" val="D:\Jeremy Haecker folder\Google Website 2026\iSpring LO\MSAI CS 600 LO\CS 600 sample"/>
  <p:tag name="ISPRING_PRESENTATION_INFO_2" val="&lt;?xml version=&quot;1.0&quot; encoding=&quot;UTF-8&quot; standalone=&quot;no&quot; ?&gt;&#10;&lt;presentation2&gt;&#10;&#10;  &lt;slides&gt;&#10;    &lt;slide id=&quot;{18846529-74C0-4622-96D0-4641FD44771E}&quot; pptId=&quot;256&quot;/&gt;&#10;    &lt;slide id=&quot;{C19905D1-763A-4332-896C-F9F3F595B69E}&quot; pptId=&quot;257&quot;/&gt;&#10;    &lt;slide id=&quot;{DFAE8873-AC68-41DE-98DF-1B06DC9E0D25}&quot; pptId=&quot;258&quot;/&gt;&#10;    &lt;slide id=&quot;{5A5C08B6-273E-4217-8EE3-EA1B13E1603C}&quot; pptId=&quot;259&quot;/&gt;&#10;    &lt;slide id=&quot;{67672A5C-C321-499A-A14D-AC87842E6188}&quot; pptId=&quot;260&quot;/&gt;&#10;    &lt;slide id=&quot;{D0D98213-B58A-4A7A-B1D2-36775829DDA3}&quot; pptId=&quot;261&quot;/&gt;&#10;    &lt;slide id=&quot;{5A7563B1-624A-4F34-93A0-614AD5AC7AAE}&quot; pptId=&quot;262&quot;/&gt;&#10;    &lt;slide id=&quot;{95DB40C9-2077-47F0-8E11-2C590E8BBF33}&quot; pptId=&quot;263&quot;/&gt;&#10;    &lt;slide id=&quot;{E2DF9936-8A60-4055-BAED-D38FAB3265E5}&quot; pptId=&quot;264&quot;/&gt;&#10;    &lt;slide id=&quot;{5B6EC9EC-A07F-4286-8DB1-624D308AFBAF}&quot; pptId=&quot;265&quot;/&gt;&#10;    &lt;slide id=&quot;{3EF1664C-B8FF-4FF0-B44C-1D87ADB40ECD}&quot; pptId=&quot;266&quot;/&gt;&#10;    &lt;slide id=&quot;{F395BE1E-12E5-40B0-951F-2E6393E1434C}&quot; pptId=&quot;267&quot;/&gt;&#10;    &lt;slide id=&quot;{C8D474C0-3A53-4A5E-BCBB-EEC7F600EDD5}&quot; pptId=&quot;268&quot;/&gt;&#10;    &lt;slide id=&quot;{373CA831-4CD8-4ADB-9449-3F9433564EB7}&quot; pptId=&quot;269&quot;/&gt;&#10;    &lt;slide id=&quot;{5C75784F-532F-486E-8A54-815C36F11279}&quot; pptId=&quot;270&quot;/&gt;&#10;  &lt;/slides&gt;&#10;&#10;  &lt;narration&gt;&#10;    &lt;audioTracks&gt;&#10;      &lt;audioTrack duration=&quot;11496&quot; muted=&quot;false&quot; name=&quot;Text-to-speech clip — Audio  1&quot; resource=&quot;1ab3db75&quot; slideId=&quot;{18846529-74C0-4622-96D0-4641FD44771E}&quot; startTime=&quot;0&quot; stepIndex=&quot;0&quot; volume=&quot;1&quot;&gt;&#10;        &lt;audio channels=&quot;1&quot; format=&quot;fltp&quot; sampleRate=&quot;24000&quot;/&gt;&#10;      &lt;/audioTrack&gt;&#10;      &lt;audioTrack duration=&quot;34344&quot; muted=&quot;false&quot; name=&quot;Text-to-speech clip — Audio  2&quot; resource=&quot;9a5b2ba7&quot; slideId=&quot;{C19905D1-763A-4332-896C-F9F3F595B69E}&quot; startTime=&quot;0&quot; stepIndex=&quot;0&quot; volume=&quot;1&quot;&gt;&#10;        &lt;audio channels=&quot;1&quot; format=&quot;fltp&quot; sampleRate=&quot;24000&quot;/&gt;&#10;      &lt;/audioTrack&gt;&#10;      &lt;audioTrack duration=&quot;11064&quot; muted=&quot;false&quot; name=&quot;Text-to-speech clip — Audio  3&quot; resource=&quot;ac3012f5&quot; slideId=&quot;{DFAE8873-AC68-41DE-98DF-1B06DC9E0D25}&quot; startTime=&quot;880&quot; stepIndex=&quot;0&quot; volume=&quot;1&quot;&gt;&#10;        &lt;audio channels=&quot;1&quot; format=&quot;fltp&quot; sampleRate=&quot;24000&quot;/&gt;&#10;      &lt;/audioTrack&gt;&#10;      &lt;audioTrack duration=&quot;17256&quot; muted=&quot;false&quot; name=&quot;Text-to-speech clip — Audio  4&quot; resource=&quot;91ea35ed&quot; slideId=&quot;{5A5C08B6-273E-4217-8EE3-EA1B13E1603C}&quot; startTime=&quot;0&quot; stepIndex=&quot;0&quot; volume=&quot;1&quot;&gt;&#10;        &lt;audio channels=&quot;1&quot; format=&quot;fltp&quot; sampleRate=&quot;24000&quot;/&gt;&#10;      &lt;/audioTrack&gt;&#10;      &lt;audioTrack duration=&quot;29256&quot; muted=&quot;false&quot; name=&quot;Text-to-speech clip — Audio  5&quot; resource=&quot;fbe7bf08&quot; slideId=&quot;{67672A5C-C321-499A-A14D-AC87842E6188}&quot; startTime=&quot;0&quot; stepIndex=&quot;0&quot; volume=&quot;1&quot;&gt;&#10;        &lt;audio channels=&quot;1&quot; format=&quot;fltp&quot; sampleRate=&quot;24000&quot;/&gt;&#10;      &lt;/audioTrack&gt;&#10;      &lt;audioTrack duration=&quot;30816&quot; muted=&quot;false&quot; name=&quot;Text-to-speech clip — Audio  6&quot; resource=&quot;c98613fb&quot; slideId=&quot;{D0D98213-B58A-4A7A-B1D2-36775829DDA3}&quot; startTime=&quot;0&quot; stepIndex=&quot;0&quot; volume=&quot;1&quot;&gt;&#10;        &lt;audio channels=&quot;1&quot; format=&quot;fltp&quot; sampleRate=&quot;24000&quot;/&gt;&#10;      &lt;/audioTrack&gt;&#10;      &lt;audioTrack duration=&quot;22968&quot; muted=&quot;false&quot; name=&quot;Text-to-speech clip — Audio  7&quot; resource=&quot;f8f472f3&quot; slideId=&quot;{5A7563B1-624A-4F34-93A0-614AD5AC7AAE}&quot; startTime=&quot;0&quot; stepIndex=&quot;0&quot; volume=&quot;1&quot;&gt;&#10;        &lt;audio channels=&quot;1&quot; format=&quot;fltp&quot; sampleRate=&quot;24000&quot;/&gt;&#10;      &lt;/audioTrack&gt;&#10;      &lt;audioTrack duration=&quot;21216&quot; muted=&quot;false&quot; name=&quot;Text-to-speech clip — Audio  8&quot; resource=&quot;142ddd3b&quot; slideId=&quot;{95DB40C9-2077-47F0-8E11-2C590E8BBF33}&quot; startTime=&quot;0&quot; stepIndex=&quot;0&quot; volume=&quot;1&quot;&gt;&#10;        &lt;audio channels=&quot;1&quot; format=&quot;fltp&quot; sampleRate=&quot;24000&quot;/&gt;&#10;      &lt;/audioTrack&gt;&#10;      &lt;audioTrack duration=&quot;7656&quot; muted=&quot;false&quot; name=&quot;Text-to-speech clip — Audio  9&quot; resource=&quot;ab9ee59f&quot; slideId=&quot;{E2DF9936-8A60-4055-BAED-D38FAB3265E5}&quot; startTime=&quot;0&quot; stepIndex=&quot;0&quot; volume=&quot;1&quot;&gt;&#10;        &lt;audio channels=&quot;1&quot; format=&quot;fltp&quot; sampleRate=&quot;24000&quot;/&gt;&#10;      &lt;/audioTrack&gt;&#10;      &lt;audioTrack duration=&quot;18408&quot; muted=&quot;false&quot; name=&quot;Text-to-speech clip — Audio  10&quot; resource=&quot;2d00da72&quot; slideId=&quot;{5B6EC9EC-A07F-4286-8DB1-624D308AFBAF}&quot; startTime=&quot;0&quot; stepIndex=&quot;0&quot; volume=&quot;1&quot;&gt;&#10;        &lt;audio channels=&quot;1&quot; format=&quot;fltp&quot; sampleRate=&quot;24000&quot;/&gt;&#10;      &lt;/audioTrack&gt;&#10;      &lt;audioTrack duration=&quot;23976&quot; muted=&quot;false&quot; name=&quot;Text-to-speech clip — Audio  11&quot; resource=&quot;c9a40bc8&quot; slideId=&quot;{3EF1664C-B8FF-4FF0-B44C-1D87ADB40ECD}&quot; startTime=&quot;0&quot; stepIndex=&quot;0&quot; volume=&quot;1&quot;&gt;&#10;        &lt;audio channels=&quot;1&quot; format=&quot;fltp&quot; sampleRate=&quot;24000&quot;/&gt;&#10;      &lt;/audioTrack&gt;&#10;      &lt;audioTrack duration=&quot;30744&quot; muted=&quot;false&quot; name=&quot;Text-to-speech clip — Audio  12&quot; resource=&quot;768cbdad&quot; slideId=&quot;{F395BE1E-12E5-40B0-951F-2E6393E1434C}&quot; startTime=&quot;0&quot; stepIndex=&quot;0&quot; volume=&quot;1&quot;&gt;&#10;        &lt;audio channels=&quot;1&quot; format=&quot;fltp&quot; sampleRate=&quot;24000&quot;/&gt;&#10;      &lt;/audioTrack&gt;&#10;      &lt;audioTrack duration=&quot;21624&quot; muted=&quot;false&quot; name=&quot;Text-to-speech clip — Audio  13&quot; resource=&quot;c5115aba&quot; slideId=&quot;{373CA831-4CD8-4ADB-9449-3F9433564EB7}&quot; startTime=&quot;0&quot; stepIndex=&quot;0&quot; volume=&quot;1&quot;&gt;&#10;        &lt;audio channels=&quot;1&quot; format=&quot;fltp&quot; sampleRate=&quot;24000&quot;/&gt;&#10;      &lt;/audioTrack&gt;&#10;      &lt;audioTrack duration=&quot;7536&quot; muted=&quot;false&quot; name=&quot;Text-to-speech clip — Audio  14&quot; resource=&quot;115eaca6&quot; slideId=&quot;{5C75784F-532F-486E-8A54-815C36F11279}&quot; startTime=&quot;0&quot; stepIndex=&quot;0&quot; volume=&quot;1&quot;&gt;&#10;        &lt;audio channels=&quot;1&quot; format=&quot;fltp&quot; sampleRate=&quot;24000&quot;/&gt;&#10;      &lt;/audioTrack&gt;&#10;    &lt;/audioTracks&gt;&#10;    &lt;videoTracks/&gt;&#10;  &lt;/narration&gt;&#10;&#10;&lt;/presentation2&gt;&#10;"/>
  <p:tag name="ISPRING_SCORM_ENDPOINT" val="&lt;endpoint&gt;&lt;enable&gt;0&lt;/enable&gt;&lt;lrs&gt;https://&lt;/lrs&gt;&lt;auth&gt;0&lt;/auth&gt;&lt;login&gt;&lt;/login&gt;&lt;password&gt;&lt;/password&gt;&lt;key&gt;&lt;/key&gt;&lt;name&gt;&lt;/name&gt;&lt;email&gt;&lt;/email&gt;&lt;/endpoint&gt;&#10;"/>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TRUE&quot;,&quot;language&quot;:&quot;EN&quot;,&quot;invertReadingOrder&quot;:&quot;T_FALSE&quot;},&quot;compressionSettings&quot;:{&quot;imageSettings&quot;:{&quot;jpegQuality&quot;:70},&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description&quot;:&quot;Learning Object Sample - Created with an AI tool. &quot;,&quot;category&quot;:&quot;1&quot;}},&quot;ispringOnlineSettings&quot;:{&quot;onlineDestinationFolderId&quot;:&quot;1&quot;},&quot;cloudSettings&quot;:{&quot;onlineDestinationFolderId&quot;:&quot;1&quot;},&quot;publishDestination&quot;:&quot;VIDEO&quot;,&quot;wordSettings&quot;:{&quot;printCopies&quot;:1},&quot;studioSettings&quot;:{&quot;onlineDestinationPath&quot;:&quot;Learning Content/New Project (Jeremy Haecker)/AI Sample (2026)&quot;,&quot;onlineDestinationFolderId&quot;:&quot;ce609e75-5b92-11f1-85cb-1ed2c432c89a&quot;,&quot;onlineDestinationUrl&quot;:&quot;new-acc-space-2588.ispring.com&quot;,&quot;uploadSources&quot;:true}}"/>
</p:tagLst>
</file>

<file path=ppt/tags/tag2.xml><?xml version="1.0" encoding="utf-8"?>
<p:tagLst xmlns:a="http://schemas.openxmlformats.org/drawingml/2006/main" xmlns:r="http://schemas.openxmlformats.org/officeDocument/2006/relationships" xmlns:p="http://schemas.openxmlformats.org/presentationml/2006/main">
  <p:tag name="GENSWF_SLIDE_UID" val="{E278F359-ECBE-49D6-AF93-AC016133889C}:256"/>
  <p:tag name="ISPRING_CUSTOM_TIMING_USED" val="1"/>
  <p:tag name="GENSWF_ADVANCE_TIME" val="11.496"/>
  <p:tag name="ISPRING_SLIDE_ID_2" val="{18846529-74C0-4622-96D0-4641FD44771E}"/>
</p:tagLst>
</file>

<file path=ppt/tags/tag3.xml><?xml version="1.0" encoding="utf-8"?>
<p:tagLst xmlns:a="http://schemas.openxmlformats.org/drawingml/2006/main" xmlns:r="http://schemas.openxmlformats.org/officeDocument/2006/relationships" xmlns:p="http://schemas.openxmlformats.org/presentationml/2006/main">
  <p:tag name="GENSWF_SLIDE_UID" val="{034A7DD8-2FA6-42D8-B937-7D74C8BF44DE}:257"/>
  <p:tag name="ISPRING_CUSTOM_TIMING_USED" val="1"/>
  <p:tag name="GENSWF_ADVANCE_TIME" val="34.344"/>
  <p:tag name="ISPRING_SLIDE_ID_2" val="{C19905D1-763A-4332-896C-F9F3F595B69E}"/>
</p:tagLst>
</file>

<file path=ppt/tags/tag4.xml><?xml version="1.0" encoding="utf-8"?>
<p:tagLst xmlns:a="http://schemas.openxmlformats.org/drawingml/2006/main" xmlns:r="http://schemas.openxmlformats.org/officeDocument/2006/relationships" xmlns:p="http://schemas.openxmlformats.org/presentationml/2006/main">
  <p:tag name="GENSWF_SLIDE_UID" val="{32E19168-E6D1-4CC2-A2AA-2FDAB1BB7501}:258"/>
  <p:tag name="ISPRING_CUSTOM_TIMING_USED" val="1"/>
  <p:tag name="GENSWF_ADVANCE_TIME" val="13.011"/>
  <p:tag name="ISPRING_SLIDE_ID_2" val="{DFAE8873-AC68-41DE-98DF-1B06DC9E0D25}"/>
</p:tagLst>
</file>

<file path=ppt/tags/tag5.xml><?xml version="1.0" encoding="utf-8"?>
<p:tagLst xmlns:a="http://schemas.openxmlformats.org/drawingml/2006/main" xmlns:r="http://schemas.openxmlformats.org/officeDocument/2006/relationships" xmlns:p="http://schemas.openxmlformats.org/presentationml/2006/main">
  <p:tag name="GENSWF_SLIDE_UID" val="{67260D46-5028-4F27-ADCC-F942B22E7FEB}:259"/>
  <p:tag name="ISPRING_CUSTOM_TIMING_USED" val="1"/>
  <p:tag name="GENSWF_ADVANCE_TIME" val="18.150"/>
  <p:tag name="ISPRING_SLIDE_ID_2" val="{5A5C08B6-273E-4217-8EE3-EA1B13E1603C}"/>
</p:tagLst>
</file>

<file path=ppt/tags/tag6.xml><?xml version="1.0" encoding="utf-8"?>
<p:tagLst xmlns:a="http://schemas.openxmlformats.org/drawingml/2006/main" xmlns:r="http://schemas.openxmlformats.org/officeDocument/2006/relationships" xmlns:p="http://schemas.openxmlformats.org/presentationml/2006/main">
  <p:tag name="GENSWF_SLIDE_UID" val="{D50A134A-12D4-4B8A-84E3-235C49479993}:260"/>
  <p:tag name="ISPRING_CUSTOM_TIMING_USED" val="1"/>
  <p:tag name="GENSWF_ADVANCE_TIME" val="30.305"/>
  <p:tag name="ISPRING_SLIDE_ID_2" val="{67672A5C-C321-499A-A14D-AC87842E6188}"/>
</p:tagLst>
</file>

<file path=ppt/tags/tag7.xml><?xml version="1.0" encoding="utf-8"?>
<p:tagLst xmlns:a="http://schemas.openxmlformats.org/drawingml/2006/main" xmlns:r="http://schemas.openxmlformats.org/officeDocument/2006/relationships" xmlns:p="http://schemas.openxmlformats.org/presentationml/2006/main">
  <p:tag name="GENSWF_SLIDE_UID" val="{45BCF870-DDFC-4BCF-9501-5C417DB51033}:261"/>
  <p:tag name="ISPRING_CUSTOM_TIMING_USED" val="1"/>
  <p:tag name="GENSWF_ADVANCE_TIME" val="31.625"/>
  <p:tag name="ISPRING_SLIDE_ID_2" val="{D0D98213-B58A-4A7A-B1D2-36775829DDA3}"/>
</p:tagLst>
</file>

<file path=ppt/tags/tag8.xml><?xml version="1.0" encoding="utf-8"?>
<p:tagLst xmlns:a="http://schemas.openxmlformats.org/drawingml/2006/main" xmlns:r="http://schemas.openxmlformats.org/officeDocument/2006/relationships" xmlns:p="http://schemas.openxmlformats.org/presentationml/2006/main">
  <p:tag name="GENSWF_SLIDE_UID" val="{46C3AD05-313D-4627-999E-A05A8136A580}:262"/>
  <p:tag name="ISPRING_CUSTOM_TIMING_USED" val="1"/>
  <p:tag name="GENSWF_ADVANCE_TIME" val="24.035"/>
  <p:tag name="ISPRING_SLIDE_ID_2" val="{5A7563B1-624A-4F34-93A0-614AD5AC7AAE}"/>
</p:tagLst>
</file>

<file path=ppt/tags/tag9.xml><?xml version="1.0" encoding="utf-8"?>
<p:tagLst xmlns:a="http://schemas.openxmlformats.org/drawingml/2006/main" xmlns:r="http://schemas.openxmlformats.org/officeDocument/2006/relationships" xmlns:p="http://schemas.openxmlformats.org/presentationml/2006/main">
  <p:tag name="GENSWF_SLIDE_UID" val="{79CA5CDE-969C-44ED-8EA5-DDC344BD4F11}:263"/>
  <p:tag name="ISPRING_CUSTOM_TIMING_USED" val="1"/>
  <p:tag name="GENSWF_ADVANCE_TIME" val="22.165"/>
  <p:tag name="ISPRING_SLIDE_ID_2" val="{95DB40C9-2077-47F0-8E11-2C590E8BBF33}"/>
</p:tagLst>
</file>

<file path=ppt/tags/tag10.xml><?xml version="1.0" encoding="utf-8"?>
<p:tagLst xmlns:a="http://schemas.openxmlformats.org/drawingml/2006/main" xmlns:r="http://schemas.openxmlformats.org/officeDocument/2006/relationships" xmlns:p="http://schemas.openxmlformats.org/presentationml/2006/main">
  <p:tag name="GENSWF_SLIDE_UID" val="{3ABD5077-2221-421F-8ACA-D9CA8A62D3FE}:264"/>
  <p:tag name="ISPRING_CUSTOM_TIMING_USED" val="1"/>
  <p:tag name="GENSWF_ADVANCE_TIME" val="8.525"/>
  <p:tag name="ISPRING_SLIDE_ID_2" val="{E2DF9936-8A60-4055-BAED-D38FAB3265E5}"/>
</p:tagLst>
</file>

<file path=ppt/tags/tag11.xml><?xml version="1.0" encoding="utf-8"?>
<p:tagLst xmlns:a="http://schemas.openxmlformats.org/drawingml/2006/main" xmlns:r="http://schemas.openxmlformats.org/officeDocument/2006/relationships" xmlns:p="http://schemas.openxmlformats.org/presentationml/2006/main">
  <p:tag name="GENSWF_SLIDE_UID" val="{10275B42-6697-48B4-A9E1-30B0D3B59AAE}:265"/>
  <p:tag name="ISPRING_CUSTOM_TIMING_USED" val="1"/>
  <p:tag name="GENSWF_ADVANCE_TIME" val="19.415"/>
  <p:tag name="ISPRING_SLIDE_ID_2" val="{5B6EC9EC-A07F-4286-8DB1-624D308AFBAF}"/>
</p:tagLst>
</file>

<file path=ppt/tags/tag12.xml><?xml version="1.0" encoding="utf-8"?>
<p:tagLst xmlns:a="http://schemas.openxmlformats.org/drawingml/2006/main" xmlns:r="http://schemas.openxmlformats.org/officeDocument/2006/relationships" xmlns:p="http://schemas.openxmlformats.org/presentationml/2006/main">
  <p:tag name="ISPRING_CONTENTLIB_ASSET_META" val="{&quot;ai&quot;:&quot;m7RnqEk55WliRge0BPiH7A&quot;,&quot;gi&quot;:&quot;-CdAYb6HDlchbHXjeuTS8A&quot;,&quot;ti&quot;:&quot;characters&quot;,&quot;vs&quot;:{&quot;f&quot;:[4352,732],&quot;i&quot;:{&quot;d&quot;:&quot;m7RnqEk55WliRge0BPiH7A&quot;,&quot;p&quot;:true}},&quot;at&quot;:&quot;DEFAULT&quot;}"/>
</p:tagLst>
</file>

<file path=ppt/tags/tag13.xml><?xml version="1.0" encoding="utf-8"?>
<p:tagLst xmlns:a="http://schemas.openxmlformats.org/drawingml/2006/main" xmlns:r="http://schemas.openxmlformats.org/officeDocument/2006/relationships" xmlns:p="http://schemas.openxmlformats.org/presentationml/2006/main">
  <p:tag name="GENSWF_SLIDE_UID" val="{6A9168BB-F8DF-454A-8596-5D6F73ACC1AC}:266"/>
  <p:tag name="ISPRING_CUSTOM_TIMING_USED" val="1"/>
  <p:tag name="GENSWF_ADVANCE_TIME" val="24.970"/>
  <p:tag name="ISPRING_SLIDE_ID_2" val="{3EF1664C-B8FF-4FF0-B44C-1D87ADB40ECD}"/>
</p:tagLst>
</file>

<file path=ppt/tags/tag14.xml><?xml version="1.0" encoding="utf-8"?>
<p:tagLst xmlns:a="http://schemas.openxmlformats.org/drawingml/2006/main" xmlns:r="http://schemas.openxmlformats.org/officeDocument/2006/relationships" xmlns:p="http://schemas.openxmlformats.org/presentationml/2006/main">
  <p:tag name="ISPRING_CONTENTLIB_ASSET_META" val="{&quot;ai&quot;:&quot;EMOKRWl95LGFgHkaRITMRw&quot;,&quot;gi&quot;:&quot;-CdAYb6HDlchbHXjeuTS8A&quot;,&quot;ti&quot;:&quot;characters&quot;,&quot;vs&quot;:{&quot;f&quot;:[4352,732],&quot;i&quot;:{&quot;d&quot;:&quot;EMOKRWl95LGFgHkaRITMRw&quot;,&quot;p&quot;:true}},&quot;at&quot;:&quot;DEFAULT&quot;}"/>
</p:tagLst>
</file>

<file path=ppt/tags/tag15.xml><?xml version="1.0" encoding="utf-8"?>
<p:tagLst xmlns:a="http://schemas.openxmlformats.org/drawingml/2006/main" xmlns:r="http://schemas.openxmlformats.org/officeDocument/2006/relationships" xmlns:p="http://schemas.openxmlformats.org/presentationml/2006/main">
  <p:tag name="GENSWF_SLIDE_UID" val="{FD950DD3-97B5-4E5E-9342-77D01CA08C44}:267"/>
  <p:tag name="ISPRING_CUSTOM_TIMING_USED" val="1"/>
  <p:tag name="GENSWF_ADVANCE_TIME" val="31.925"/>
  <p:tag name="ISPRING_SLIDE_ID_2" val="{F395BE1E-12E5-40B0-951F-2E6393E1434C}"/>
</p:tagLst>
</file>

<file path=ppt/tags/tag16.xml><?xml version="1.0" encoding="utf-8"?>
<p:tagLst xmlns:a="http://schemas.openxmlformats.org/drawingml/2006/main" xmlns:r="http://schemas.openxmlformats.org/officeDocument/2006/relationships" xmlns:p="http://schemas.openxmlformats.org/presentationml/2006/main">
  <p:tag name="ISPRING_SLIDE_QUIZ_PROPERTIES" val="&lt;QuizProperties&gt;&lt;passAction&gt;&lt;action&gt;3&lt;/action&gt;&lt;/passAction&gt;&lt;failAction&gt;&lt;action&gt;3&lt;/action&gt;&lt;/failAction&gt;&lt;viewSlidesPolicy&gt;0&lt;/viewSlidesPolicy&gt;&lt;allowInterrupt&gt;1&lt;/allowInterrupt&gt;&lt;restartFailedQuiz&gt;0&lt;/restartFailedQuiz&gt;&lt;/QuizProperties&gt;&#10;"/>
  <p:tag name="ISPRING_QUIZ_SHAPES_ADDED" val="1"/>
  <p:tag name="ISPRING_RESOURCE_QUIZ" val="22f51ab8.quiz"/>
  <p:tag name="ISPRING_QUIZ_RELATIVE_PATH" val="CS 600 sample\quiz\22f51ab8.quiz"/>
  <p:tag name="GENSWF_SLIDE_UID" val="{ACCA3D93-ED80-467C-958F-0C60DF375AE0}:268"/>
  <p:tag name="GENSWF_ADVANCE_TIME" val="5.000"/>
  <p:tag name="ISPRING_CUSTOM_TIMING_USED" val="1"/>
  <p:tag name="ISPRING_QUIZ_FULL_PATH" val="D:\Jeremy Haecker folder\Google Website 2026\iSpring LO\MSAI CS 600 LO\CS 600 sample\quiz\22f51ab8.quiz"/>
  <p:tag name="ISPRING_SLIDE_ID_2" val="{C8D474C0-3A53-4A5E-BCBB-EEC7F600EDD5}"/>
</p:tagLst>
</file>

<file path=ppt/tags/tag17.xml><?xml version="1.0" encoding="utf-8"?>
<p:tagLst xmlns:a="http://schemas.openxmlformats.org/drawingml/2006/main" xmlns:r="http://schemas.openxmlformats.org/officeDocument/2006/relationships" xmlns:p="http://schemas.openxmlformats.org/presentationml/2006/main">
  <p:tag name="GENSWF_SLIDE_UID" val="{2D2C8ABA-927F-4689-8722-B7CA869616C3}:269"/>
  <p:tag name="ISPRING_CUSTOM_TIMING_USED" val="1"/>
  <p:tag name="GENSWF_ADVANCE_TIME" val="23.050"/>
  <p:tag name="ISPRING_SLIDE_ID_2" val="{373CA831-4CD8-4ADB-9449-3F9433564EB7}"/>
</p:tagLst>
</file>

<file path=ppt/tags/tag18.xml><?xml version="1.0" encoding="utf-8"?>
<p:tagLst xmlns:a="http://schemas.openxmlformats.org/drawingml/2006/main" xmlns:r="http://schemas.openxmlformats.org/officeDocument/2006/relationships" xmlns:p="http://schemas.openxmlformats.org/presentationml/2006/main">
  <p:tag name="ISPRING_CONTENTLIB_ASSET_META" val="{&quot;ai&quot;:&quot;zG9y_Xqeuadl7O2BEmKu-A&quot;,&quot;gi&quot;:&quot;-CdAYb6HDlchbHXjeuTS8A&quot;,&quot;ti&quot;:&quot;characters&quot;,&quot;vs&quot;:{&quot;f&quot;:[4352,732],&quot;i&quot;:{&quot;d&quot;:&quot;zG9y_Xqeuadl7O2BEmKu-A&quot;,&quot;p&quot;:true}},&quot;at&quot;:&quot;DEFAULT&quot;}"/>
</p:tagLst>
</file>

<file path=ppt/tags/tag19.xml><?xml version="1.0" encoding="utf-8"?>
<p:tagLst xmlns:a="http://schemas.openxmlformats.org/drawingml/2006/main" xmlns:r="http://schemas.openxmlformats.org/officeDocument/2006/relationships" xmlns:p="http://schemas.openxmlformats.org/presentationml/2006/main">
  <p:tag name="GENSWF_SLIDE_UID" val="{E09A54AB-78FB-4210-9A80-2F8833DB5154}:270"/>
  <p:tag name="ISPRING_CUSTOM_TIMING_USED" val="1"/>
  <p:tag name="GENSWF_ADVANCE_TIME" val="7.536"/>
  <p:tag name="ISPRING_SLIDE_ID_2" val="{5C75784F-532F-486E-8A54-815C36F1127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616</TotalTime>
  <Words>1196</Words>
  <Application>Microsoft Office PowerPoint</Application>
  <PresentationFormat>Widescreen</PresentationFormat>
  <Paragraphs>154</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Calibri Light</vt:lpstr>
      <vt:lpstr>Courier New</vt:lpstr>
      <vt:lpstr>Segoe UI</vt:lpstr>
      <vt:lpstr>Segoe UI Semibold</vt:lpstr>
      <vt:lpstr>Symbol</vt:lpstr>
      <vt:lpstr>Times New Roman</vt:lpstr>
      <vt:lpstr>Office Theme</vt:lpstr>
      <vt:lpstr>CS 600: Artificial Intelligence Foundations</vt:lpstr>
      <vt:lpstr>What Is Artificial Intelligence?</vt:lpstr>
      <vt:lpstr>Why AI Matters?</vt:lpstr>
      <vt:lpstr>Core Ideas Behind AI</vt:lpstr>
      <vt:lpstr>Intelligent Agents</vt:lpstr>
      <vt:lpstr>Data and Knowledge</vt:lpstr>
      <vt:lpstr>Learning and Adaptation</vt:lpstr>
      <vt:lpstr>Reasoning and Decision-Making</vt:lpstr>
      <vt:lpstr>Types of Artificial Intelligence</vt:lpstr>
      <vt:lpstr>Narrow (Weak) AI</vt:lpstr>
      <vt:lpstr>General (Strong) AI</vt:lpstr>
      <vt:lpstr>Why These Foundations Matter</vt:lpstr>
      <vt:lpstr>Knowledge Check</vt:lpstr>
      <vt:lpstr> Summary</vt:lpstr>
      <vt:lpstr>Closing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600 Foundations of AI</dc:title>
  <dc:creator>Jeremy Haecker</dc:creator>
  <cp:lastModifiedBy>Jeremy Haecker</cp:lastModifiedBy>
  <cp:revision>70</cp:revision>
  <dcterms:created xsi:type="dcterms:W3CDTF">2026-01-30T19:16:01Z</dcterms:created>
  <dcterms:modified xsi:type="dcterms:W3CDTF">2026-06-08T17:36:49Z</dcterms:modified>
</cp:coreProperties>
</file>